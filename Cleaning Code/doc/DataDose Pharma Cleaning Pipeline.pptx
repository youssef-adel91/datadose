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Urbanist Medium"/>
      <p:regular r:id="rId25"/>
      <p:bold r:id="rId26"/>
      <p:italic r:id="rId27"/>
      <p:boldItalic r:id="rId28"/>
    </p:embeddedFont>
    <p:embeddedFont>
      <p:font typeface="Urbanist SemiBold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  <p:embeddedFont>
      <p:font typeface="Urbanist ExtraBold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EBCA6A-9AF9-4D57-9397-09D2D045D707}">
  <a:tblStyle styleId="{B7EBCA6A-9AF9-4D57-9397-09D2D045D7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italic.fntdata"/><Relationship Id="rId30" Type="http://schemas.openxmlformats.org/officeDocument/2006/relationships/font" Target="fonts/UrbanistSemiBold-bold.fntdata"/><Relationship Id="rId11" Type="http://schemas.openxmlformats.org/officeDocument/2006/relationships/slide" Target="slides/slide5.xml"/><Relationship Id="rId33" Type="http://schemas.openxmlformats.org/officeDocument/2006/relationships/font" Target="fonts/Urbanist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-italic.fntdata"/><Relationship Id="rId12" Type="http://schemas.openxmlformats.org/officeDocument/2006/relationships/slide" Target="slides/slide6.xml"/><Relationship Id="rId34" Type="http://schemas.openxmlformats.org/officeDocument/2006/relationships/font" Target="fonts/Urbanist-bold.fntdata"/><Relationship Id="rId15" Type="http://schemas.openxmlformats.org/officeDocument/2006/relationships/slide" Target="slides/slide9.xml"/><Relationship Id="rId37" Type="http://schemas.openxmlformats.org/officeDocument/2006/relationships/font" Target="fonts/UrbanistExtraBold-bold.fntdata"/><Relationship Id="rId14" Type="http://schemas.openxmlformats.org/officeDocument/2006/relationships/slide" Target="slides/slide8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UrbanistExtra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7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11" Type="http://schemas.openxmlformats.org/officeDocument/2006/relationships/image" Target="../media/image20.png"/><Relationship Id="rId10" Type="http://schemas.openxmlformats.org/officeDocument/2006/relationships/image" Target="../media/image14.png"/><Relationship Id="rId9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7.png"/><Relationship Id="rId13" Type="http://schemas.openxmlformats.org/officeDocument/2006/relationships/image" Target="../media/image35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8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51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61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0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0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6.png"/><Relationship Id="rId5" Type="http://schemas.openxmlformats.org/officeDocument/2006/relationships/image" Target="../media/image14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9" Type="http://schemas.openxmlformats.org/officeDocument/2006/relationships/image" Target="../media/image45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Relationship Id="rId7" Type="http://schemas.openxmlformats.org/officeDocument/2006/relationships/image" Target="../media/image58.png"/><Relationship Id="rId8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7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62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71.png"/><Relationship Id="rId9" Type="http://schemas.openxmlformats.org/officeDocument/2006/relationships/image" Target="../media/image60.png"/><Relationship Id="rId5" Type="http://schemas.openxmlformats.org/officeDocument/2006/relationships/image" Target="../media/image49.png"/><Relationship Id="rId6" Type="http://schemas.openxmlformats.org/officeDocument/2006/relationships/image" Target="../media/image55.png"/><Relationship Id="rId7" Type="http://schemas.openxmlformats.org/officeDocument/2006/relationships/image" Target="../media/image14.png"/><Relationship Id="rId8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4.png"/><Relationship Id="rId1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Relationship Id="rId5" Type="http://schemas.openxmlformats.org/officeDocument/2006/relationships/image" Target="../media/image14.png"/><Relationship Id="rId6" Type="http://schemas.openxmlformats.org/officeDocument/2006/relationships/image" Target="../media/image53.png"/><Relationship Id="rId7" Type="http://schemas.openxmlformats.org/officeDocument/2006/relationships/image" Target="../media/image70.png"/><Relationship Id="rId8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68.png"/><Relationship Id="rId5" Type="http://schemas.openxmlformats.org/officeDocument/2006/relationships/image" Target="../media/image14.png"/><Relationship Id="rId6" Type="http://schemas.openxmlformats.org/officeDocument/2006/relationships/image" Target="../media/image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761255"/>
            <a:ext cx="8572500" cy="43829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52500" y="5838825"/>
            <a:ext cx="3743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GRADUATION PROJECT | CLINICAL INTELLIGENCE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44150" y="6286500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0810875" y="6291252"/>
            <a:ext cx="12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05513" y="1342280"/>
            <a:ext cx="77809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AB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DATADOSE CLEANING MODULE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205513" y="1809005"/>
            <a:ext cx="7780972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Pharma Data </a:t>
            </a:r>
            <a:r>
              <a:rPr b="1" i="0" lang="en-US" sz="5400" u="none" cap="none" strike="noStrike">
                <a:solidFill>
                  <a:srgbClr val="F9AB00"/>
                </a:solidFill>
                <a:latin typeface="Urbanist"/>
                <a:ea typeface="Urbanist"/>
                <a:cs typeface="Urbanist"/>
                <a:sym typeface="Urbanist"/>
              </a:rPr>
              <a:t>Cleaning</a:t>
            </a:r>
            <a:r>
              <a:rPr b="1" i="0" lang="en-US" sz="54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 &amp; Enrichment Pipeline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390775" y="3603277"/>
            <a:ext cx="7410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Automated Standardization, FDA Verification, and LLM-Powered Enrichment for Pharmaceutical Datasets.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4944" y="5525244"/>
            <a:ext cx="471487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52182" y="552524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9432" y="5525244"/>
            <a:ext cx="987623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528637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381000" y="6410325"/>
            <a:ext cx="2514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DATADOSE | PIPELINE WORKFLOW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Agenda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962025" y="26146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Module Overview &amp; Problem Statement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315753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Pipeline Architecture &amp; Workflow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37004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Deep Dive: Notebooks 01–05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42433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04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Technology Stack &amp; Configuration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62025" y="478631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05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Integration &amp; Advantages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2575"/>
            <a:ext cx="5286375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Module Overview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7">
            <a:alphaModFix/>
          </a:blip>
          <a:srcRect b="17344" l="0" r="0" t="1645"/>
          <a:stretch/>
        </p:blipFill>
        <p:spPr>
          <a:xfrm>
            <a:off x="581025" y="17621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724650" y="19431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Turning Chaos into Intelligence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24650" y="24574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Pharma Data Cleaning &amp; Enrichment Pipeline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is a suite of five specialized notebooks that transform raw pharmaceutical product CSVs into cleaned, FDA-verified entities.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067550" y="38671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105650" y="38671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Standardize: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Normalizes messy free-text dosage forms.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067550" y="44767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105650" y="44767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Verify: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Uses fuzzy matching and LLMs for ingredients.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067550" y="50863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105650" y="5086350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Enrich: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Cross-references OpenFDA APIs.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067550" y="53911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105650" y="5391150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Validate: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LLM-based trade name confirmation.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81550"/>
            <a:ext cx="11049000" cy="1603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04950"/>
            <a:ext cx="35559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504950"/>
            <a:ext cx="35559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504950"/>
            <a:ext cx="3556099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962025" y="5400675"/>
            <a:ext cx="10267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5036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Manual cleaning of 10,000+ drug entries is impossible. Automation is required.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17526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19150" y="2324100"/>
            <a:ext cx="3213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Messy Inputs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19150" y="2838450"/>
            <a:ext cx="30606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Pharmaceutical datasets are plagued by typos, encoded tokens, and inconsistent shorthand (e.g., "b12" vs "cobalamin").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65600" y="1752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4565600" y="2324100"/>
            <a:ext cx="3213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Entity Ambiguity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565600" y="2838450"/>
            <a:ext cx="306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Difficulty distinguishing between drugs, cosmetics, and supplements in raw free-text ingredient strings.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12050" y="17526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312050" y="2324100"/>
            <a:ext cx="32138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Lack of Context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312050" y="2838450"/>
            <a:ext cx="30607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Standard CSVs often lack metadata like manufacturers, canonical brand names, or standardized dosage forms.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4037"/>
            <a:ext cx="110490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90812"/>
            <a:ext cx="17145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0387" y="2690812"/>
            <a:ext cx="17145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8750" y="2690812"/>
            <a:ext cx="17145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7112" y="2690812"/>
            <a:ext cx="17145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5475" y="2690812"/>
            <a:ext cx="17145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Pipeline Architecture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571500" y="46529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503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Main Path (01 → 02 → 03)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51673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Forms the core linear transformation for ingredient discovery and verification.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334125" y="46529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503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Utility Braches (04, 05)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334125" y="51673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Independent modules for trade name validation and batch merging.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62025" y="3386137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Input Dataset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17018" y="316706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3100387" y="3386137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NB 01: Cleaning</a:t>
            </a:r>
            <a:endParaRPr/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55381" y="316706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5238750" y="3386137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NB 02: LLM Match</a:t>
            </a:r>
            <a:endParaRPr/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93743" y="316706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7377112" y="3386137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NB 03: API Lookup</a:t>
            </a:r>
            <a:endParaRPr/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32106" y="3167062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9515475" y="3386137"/>
            <a:ext cx="1714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Enriched Output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0777"/>
            <a:ext cx="11049000" cy="2489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173" y="3041302"/>
            <a:ext cx="1901130" cy="1708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3804" y="3041302"/>
            <a:ext cx="1901130" cy="1708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5434" y="3041302"/>
            <a:ext cx="1901130" cy="1708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7065" y="3041302"/>
            <a:ext cx="1901130" cy="1708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8695" y="3041302"/>
            <a:ext cx="1901130" cy="17086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Notebook Workflow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41301" y="3250852"/>
            <a:ext cx="1428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134673" y="3536602"/>
            <a:ext cx="1556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Initial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171723" y="4003327"/>
            <a:ext cx="148203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Drop cols, Normalize text</a:t>
            </a:r>
            <a:endParaRPr/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13882" y="3250852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3226303" y="3536602"/>
            <a:ext cx="1556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Ingredient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3263354" y="4003327"/>
            <a:ext cx="148203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Spell fix, Fuzzy matching</a:t>
            </a:r>
            <a:endParaRPr/>
          </a:p>
        </p:txBody>
      </p:sp>
      <p:pic>
        <p:nvPicPr>
          <p:cNvPr descr="image.png" id="207" name="Google Shape;20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05512" y="3250852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5317934" y="3536602"/>
            <a:ext cx="1556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FDA API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5354984" y="4003327"/>
            <a:ext cx="148203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Groq + OpenFDA lookup</a:t>
            </a:r>
            <a:endParaRPr/>
          </a:p>
        </p:txBody>
      </p:sp>
      <p:pic>
        <p:nvPicPr>
          <p:cNvPr descr="image.png" id="210" name="Google Shape;21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78092" y="3250852"/>
            <a:ext cx="2190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409564" y="3536602"/>
            <a:ext cx="1556131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Trade Name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7446615" y="4327177"/>
            <a:ext cx="148203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Regex + LLM Validation</a:t>
            </a:r>
            <a:endParaRPr/>
          </a:p>
        </p:txBody>
      </p:sp>
      <p:pic>
        <p:nvPicPr>
          <p:cNvPr descr="image.png" id="213" name="Google Shape;21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188773" y="3250852"/>
            <a:ext cx="1809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9501194" y="3536602"/>
            <a:ext cx="15561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Merge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9538245" y="4003327"/>
            <a:ext cx="148203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Folder consolidation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69133"/>
            <a:ext cx="5286375" cy="1653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04975"/>
            <a:ext cx="5286375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4150" y="3269158"/>
            <a:ext cx="4886325" cy="125313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01 | Initial Cleaning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962025" y="20955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First-Pass Standardization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962025" y="26098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Loads the raw dataset and applies foundational structural changes.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304925" y="34099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1343025" y="34099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Pruning: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Drops unused columns (id, price, therapeutic_group).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1304925" y="40195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343025" y="40195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Text Prep: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Lowercasing and whitespace stripping for all key fields.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304925" y="46291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343025" y="4629150"/>
            <a:ext cx="4124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Form Consolidation: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Maps messy dosage strings (e.g., "Tab", "Tablet", "tabs") to form_standardized.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10050"/>
            <a:ext cx="110490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09750"/>
            <a:ext cx="35559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809750"/>
            <a:ext cx="35559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809750"/>
            <a:ext cx="3556099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02 | Ingredient Cleaning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962025" y="4791075"/>
            <a:ext cx="10267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Core Functions: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decode_encoded_tokens(), apply_spell_fix(), normalize_omega(), clean_active_ingredient().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819150" y="2057400"/>
            <a:ext cx="3213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Token Decoding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819150" y="2571750"/>
            <a:ext cx="306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Fixes spelling errors and expands B-vitamin shorthand (b12 → cobalamin).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4565600" y="2057400"/>
            <a:ext cx="3213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Normalization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4565600" y="2571750"/>
            <a:ext cx="3060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Splits multi-ingredient combos into sorted, + joined canonical strings.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312050" y="2057400"/>
            <a:ext cx="32138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Fuzzy Matching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8312050" y="2571750"/>
            <a:ext cx="30607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Uses difflib (threshold: 0.85) to match against reference lists.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7375"/>
            <a:ext cx="5286375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03 | FDA Enrichment</a:t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962025" y="22479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Intelligence Layer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962025" y="27622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Uses External AI and Official Data to validate drug entities.</a:t>
            </a:r>
            <a:endParaRPr/>
          </a:p>
        </p:txBody>
      </p:sp>
      <p:pic>
        <p:nvPicPr>
          <p:cNvPr descr="image.png" id="269" name="Google Shape;26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20002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1304925" y="35623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1343025" y="35623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Groq LLM: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llama-3.1-8b-instant confirms if an ingredient is a valid drug (INN).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304925" y="41719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343025" y="41719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OpenFDA API: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Fetches manufacturers, brand names, and official dosage forms.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304925" y="47815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343025" y="47815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Confidence: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Requires both is_drug and fda_found to be true.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57375"/>
            <a:ext cx="5286375" cy="40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04 | Trade Name Validation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571500" y="291271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F55036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0.85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571500" y="4284315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Confidence Threshold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6724650" y="22479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Regex + LLM Hybrid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6724650" y="27622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Cleaning brand names like </a:t>
            </a:r>
            <a:r>
              <a:rPr b="0" i="1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"Aspirin 500mg Tablet 20 tabs"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into </a:t>
            </a:r>
            <a:r>
              <a:rPr b="0" i="1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"Aspirin"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067550" y="35623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7105650" y="35623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Regex Stripping: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Removes dosage, pack counts, and volume patterns.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7067550" y="41719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7105650" y="41719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LLM Verification: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Groq confirms the remaining text is a valid brand name.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7067550" y="47815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7105650" y="47815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Filtering: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Only exports names meeting the threshold.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9775"/>
            <a:ext cx="52863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05 | Merge Utilities</a:t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2885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9825" y="3181350"/>
            <a:ext cx="16097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6724650" y="24003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Consolidation Helpers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724650" y="29146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Generic tools for merging output files across different stages of the pipeline.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067550" y="37147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7105650" y="3714750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CSV Merge: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Combines multiple files in a path.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7067550" y="40195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7105650" y="40195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Batch Folders: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Merges multiple folders based on specs.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7067550" y="462915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7105650" y="46291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Flexible: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Concatenates rows via pd.concat regardless of schema alignment.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8970"/>
            <a:ext cx="11049000" cy="155823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Technology Stack</a:t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5" name="Google Shape;3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2796" y="2514600"/>
            <a:ext cx="392906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762000" y="3124200"/>
            <a:ext cx="171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Python 3.x</a:t>
            </a:r>
            <a:endParaRPr/>
          </a:p>
        </p:txBody>
      </p:sp>
      <p:pic>
        <p:nvPicPr>
          <p:cNvPr descr="image.png" id="328" name="Google Shape;3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9500" y="25146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4"/>
          <p:cNvSpPr txBox="1"/>
          <p:nvPr/>
        </p:nvSpPr>
        <p:spPr>
          <a:xfrm>
            <a:off x="3000375" y="3124200"/>
            <a:ext cx="171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Pandas / NumPy</a:t>
            </a:r>
            <a:endParaRPr/>
          </a:p>
        </p:txBody>
      </p:sp>
      <p:pic>
        <p:nvPicPr>
          <p:cNvPr descr="image.png" id="330" name="Google Shape;33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84490" y="2514600"/>
            <a:ext cx="82301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 txBox="1"/>
          <p:nvPr/>
        </p:nvSpPr>
        <p:spPr>
          <a:xfrm>
            <a:off x="5238750" y="3124200"/>
            <a:ext cx="171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Groq LLM</a:t>
            </a:r>
            <a:endParaRPr/>
          </a:p>
        </p:txBody>
      </p:sp>
      <p:pic>
        <p:nvPicPr>
          <p:cNvPr descr="image.png" id="332" name="Google Shape;332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0" y="25146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7477125" y="3124200"/>
            <a:ext cx="171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OpenFDA API</a:t>
            </a:r>
            <a:endParaRPr/>
          </a:p>
        </p:txBody>
      </p:sp>
      <p:pic>
        <p:nvPicPr>
          <p:cNvPr descr="image.png" id="334" name="Google Shape;33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4625" y="25146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/>
          <p:nvPr/>
        </p:nvSpPr>
        <p:spPr>
          <a:xfrm>
            <a:off x="9715500" y="3124200"/>
            <a:ext cx="1714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Google Colab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962025" y="4299495"/>
            <a:ext cx="34604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Text Processing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962025" y="4680495"/>
            <a:ext cx="3295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re, difflib, string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4448175" y="4299495"/>
            <a:ext cx="34604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IO &amp; File Ops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4448175" y="4680495"/>
            <a:ext cx="3295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requests, json, glob, pathlib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7934325" y="4299495"/>
            <a:ext cx="34604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AI Model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7934325" y="4680495"/>
            <a:ext cx="3295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llama-3.1-8b-instant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8653"/>
            <a:ext cx="11049000" cy="1892944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Folder Structure</a:t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1" name="Google Shape;35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5"/>
          <p:cNvSpPr txBox="1"/>
          <p:nvPr/>
        </p:nvSpPr>
        <p:spPr>
          <a:xfrm>
            <a:off x="571500" y="4737348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module is organized for </a:t>
            </a: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Sequential Execution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while maintaining </a:t>
            </a: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Modular Independence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for utilities like Notebook 05.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3125"/>
            <a:ext cx="11049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Configuration</a:t>
            </a:r>
            <a:endParaRPr/>
          </a:p>
        </p:txBody>
      </p:sp>
      <p:sp>
        <p:nvSpPr>
          <p:cNvPr id="361" name="Google Shape;361;p2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2" name="Google Shape;36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3" name="Google Shape;363;p26"/>
          <p:cNvGraphicFramePr/>
          <p:nvPr/>
        </p:nvGraphicFramePr>
        <p:xfrm>
          <a:off x="962025" y="2724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{B7EBCA6A-9AF9-4D57-9397-09D2D045D707}</a:tableStyleId>
              </a:tblPr>
              <a:tblGrid>
                <a:gridCol w="2745725"/>
                <a:gridCol w="2968375"/>
                <a:gridCol w="4553850"/>
              </a:tblGrid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9AB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9AB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9AB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Default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76AB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BASE_DIR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Root folder for inputs/outputs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/content/drive/MyDrive/DataDoseDepi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GROQ_API_KEYS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List of keys for LLM inference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[] (Empty by default)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CONFIDENCE_THRESHOLD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Min score for validated names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OPENFDA_API_KEY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for higher API rate limits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0F6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"" (Optional)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64" name="Google Shape;364;p26"/>
          <p:cNvSpPr/>
          <p:nvPr/>
        </p:nvSpPr>
        <p:spPr>
          <a:xfrm>
            <a:off x="962025" y="3209925"/>
            <a:ext cx="274573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3707755" y="3209925"/>
            <a:ext cx="2968376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6676132" y="3209925"/>
            <a:ext cx="4553842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962025" y="3729037"/>
            <a:ext cx="27457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3707755" y="3729037"/>
            <a:ext cx="29683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6676132" y="3729037"/>
            <a:ext cx="45538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962025" y="4233862"/>
            <a:ext cx="27457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3707755" y="4233862"/>
            <a:ext cx="29683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6676132" y="4233862"/>
            <a:ext cx="45538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962025" y="4738687"/>
            <a:ext cx="27457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3707755" y="4738687"/>
            <a:ext cx="29683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6676132" y="4738687"/>
            <a:ext cx="45538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962025" y="5243512"/>
            <a:ext cx="27457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3707755" y="5243512"/>
            <a:ext cx="29683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6676132" y="5243512"/>
            <a:ext cx="45538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412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38412"/>
            <a:ext cx="35559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38412"/>
            <a:ext cx="3556099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Pipeline Advantages</a:t>
            </a:r>
            <a:endParaRPr/>
          </a:p>
        </p:txBody>
      </p:sp>
      <p:sp>
        <p:nvSpPr>
          <p:cNvPr id="389" name="Google Shape;389;p2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0" name="Google Shape;39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8146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7"/>
          <p:cNvSpPr txBox="1"/>
          <p:nvPr/>
        </p:nvSpPr>
        <p:spPr>
          <a:xfrm>
            <a:off x="819150" y="3386137"/>
            <a:ext cx="3213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 Performance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819150" y="3900487"/>
            <a:ext cx="306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Groq's Llama-3.1 inference allows for rapid processing of large ingredient lists.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4565600" y="3043237"/>
            <a:ext cx="321368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Verified Accuracy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4565600" y="3557587"/>
            <a:ext cx="306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Cross-checking against official FDA databases ensures medical compliance.</a:t>
            </a:r>
            <a:endParaRPr/>
          </a:p>
        </p:txBody>
      </p:sp>
      <p:pic>
        <p:nvPicPr>
          <p:cNvPr descr="image.png" id="396" name="Google Shape;39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28146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7"/>
          <p:cNvSpPr txBox="1"/>
          <p:nvPr/>
        </p:nvSpPr>
        <p:spPr>
          <a:xfrm>
            <a:off x="8312050" y="3386137"/>
            <a:ext cx="32138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76AB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Scalability</a:t>
            </a:r>
            <a:endParaRPr/>
          </a:p>
        </p:txBody>
      </p:sp>
      <p:sp>
        <p:nvSpPr>
          <p:cNvPr id="398" name="Google Shape;398;p27"/>
          <p:cNvSpPr txBox="1"/>
          <p:nvPr/>
        </p:nvSpPr>
        <p:spPr>
          <a:xfrm>
            <a:off x="8312050" y="3900487"/>
            <a:ext cx="3060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Modular Python functions can be easily ported to batch processing or Databricks.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1165"/>
            <a:ext cx="11049000" cy="390897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0F6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DataDose Integration</a:t>
            </a:r>
            <a:endParaRPr/>
          </a:p>
        </p:txBody>
      </p:sp>
      <p:sp>
        <p:nvSpPr>
          <p:cNvPr id="407" name="Google Shape;407;p2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F550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8" name="Google Shape;40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8"/>
          <p:cNvSpPr txBox="1"/>
          <p:nvPr/>
        </p:nvSpPr>
        <p:spPr>
          <a:xfrm>
            <a:off x="705326" y="2331690"/>
            <a:ext cx="1078134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9AB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Downstream Data Flow</a:t>
            </a:r>
            <a:endParaRPr/>
          </a:p>
        </p:txBody>
      </p:sp>
      <p:sp>
        <p:nvSpPr>
          <p:cNvPr id="410" name="Google Shape;410;p28"/>
          <p:cNvSpPr txBox="1"/>
          <p:nvPr/>
        </p:nvSpPr>
        <p:spPr>
          <a:xfrm>
            <a:off x="962025" y="4964310"/>
            <a:ext cx="10267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output of this module is the </a:t>
            </a:r>
            <a:r>
              <a:rPr b="1" i="0" lang="en-US" sz="1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source of truth</a:t>
            </a:r>
            <a:r>
              <a:rPr b="0" i="0" lang="en-US" sz="15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 for the DataDose Knowledge Graph and Clinical Analytics.</a:t>
            </a:r>
            <a:endParaRPr/>
          </a:p>
        </p:txBody>
      </p:sp>
      <p:pic>
        <p:nvPicPr>
          <p:cNvPr descr="image.png" id="411" name="Google Shape;41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4978" y="387652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4314" y="387652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18376" y="387652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4584" y="370329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8"/>
          <p:cNvSpPr txBox="1"/>
          <p:nvPr/>
        </p:nvSpPr>
        <p:spPr>
          <a:xfrm>
            <a:off x="1840259" y="3989040"/>
            <a:ext cx="9906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Cleaning Module</a:t>
            </a:r>
            <a:endParaRPr/>
          </a:p>
        </p:txBody>
      </p:sp>
      <p:pic>
        <p:nvPicPr>
          <p:cNvPr descr="image.png" id="416" name="Google Shape;416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53446" y="370329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8"/>
          <p:cNvSpPr txBox="1"/>
          <p:nvPr/>
        </p:nvSpPr>
        <p:spPr>
          <a:xfrm>
            <a:off x="4572446" y="3989040"/>
            <a:ext cx="1047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Kafka / Databricks</a:t>
            </a:r>
            <a:endParaRPr/>
          </a:p>
        </p:txBody>
      </p:sp>
      <p:pic>
        <p:nvPicPr>
          <p:cNvPr descr="image.png" id="418" name="Google Shape;41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95145" y="370329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8"/>
          <p:cNvSpPr txBox="1"/>
          <p:nvPr/>
        </p:nvSpPr>
        <p:spPr>
          <a:xfrm>
            <a:off x="7361783" y="3989040"/>
            <a:ext cx="7524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Neo4j Graph</a:t>
            </a:r>
            <a:endParaRPr/>
          </a:p>
        </p:txBody>
      </p:sp>
      <p:pic>
        <p:nvPicPr>
          <p:cNvPr descr="image.png" id="420" name="Google Shape;420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60619" y="370329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8"/>
          <p:cNvSpPr txBox="1"/>
          <p:nvPr/>
        </p:nvSpPr>
        <p:spPr>
          <a:xfrm>
            <a:off x="9855844" y="3989040"/>
            <a:ext cx="4953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Power BI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547068"/>
            <a:ext cx="7620000" cy="3763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6450" y="1937593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9"/>
          <p:cNvSpPr txBox="1"/>
          <p:nvPr/>
        </p:nvSpPr>
        <p:spPr>
          <a:xfrm>
            <a:off x="2505551" y="2729954"/>
            <a:ext cx="718089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Standardized data is the foundation of trustworthy AI in healthcare.</a:t>
            </a:r>
            <a:endParaRPr/>
          </a:p>
        </p:txBody>
      </p:sp>
      <p:sp>
        <p:nvSpPr>
          <p:cNvPr id="432" name="Google Shape;432;p29"/>
          <p:cNvSpPr txBox="1"/>
          <p:nvPr/>
        </p:nvSpPr>
        <p:spPr>
          <a:xfrm>
            <a:off x="2676525" y="3960465"/>
            <a:ext cx="68389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The DataDose cleaning module ensures every prescription, every dosage, and every drug entity is accurate, canonical, and enriched.</a:t>
            </a:r>
            <a:endParaRPr/>
          </a:p>
        </p:txBody>
      </p:sp>
      <p:sp>
        <p:nvSpPr>
          <p:cNvPr id="433" name="Google Shape;433;p29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8" name="Google Shape;4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0"/>
          <p:cNvSpPr txBox="1"/>
          <p:nvPr/>
        </p:nvSpPr>
        <p:spPr>
          <a:xfrm>
            <a:off x="3720703" y="1837432"/>
            <a:ext cx="4750593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i="0" lang="en-US" sz="7500" u="none" cap="none" strike="noStrike">
                <a:solidFill>
                  <a:srgbClr val="F9AB00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4562475" y="3075682"/>
            <a:ext cx="30670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B949E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pic>
        <p:nvPicPr>
          <p:cNvPr descr="image.png" id="441" name="Google Shape;4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0400" y="64055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0"/>
          <p:cNvSpPr txBox="1"/>
          <p:nvPr/>
        </p:nvSpPr>
        <p:spPr>
          <a:xfrm>
            <a:off x="11134725" y="6391275"/>
            <a:ext cx="676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6FC"/>
                </a:solidFill>
                <a:latin typeface="Urbanist"/>
                <a:ea typeface="Urbanist"/>
                <a:cs typeface="Urbanist"/>
                <a:sym typeface="Urbanist"/>
              </a:rPr>
              <a:t>DataDose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