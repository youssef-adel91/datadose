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Urbanist"/>
      <p:regular r:id="rId34"/>
      <p:bold r:id="rId35"/>
      <p:italic r:id="rId36"/>
      <p:boldItalic r:id="rId37"/>
    </p:embeddedFont>
    <p:embeddedFont>
      <p:font typeface="Poppins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BD5C23-C7B0-40D5-813E-DBB037F2C2D6}">
  <a:tblStyle styleId="{7DBD5C23-C7B0-40D5-813E-DBB037F2C2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italic.fntdata"/><Relationship Id="rId20" Type="http://schemas.openxmlformats.org/officeDocument/2006/relationships/slide" Target="slides/slide14.xml"/><Relationship Id="rId41" Type="http://schemas.openxmlformats.org/officeDocument/2006/relationships/font" Target="fonts/PoppinsMedium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35" Type="http://schemas.openxmlformats.org/officeDocument/2006/relationships/font" Target="fonts/Urbanist-bold.fntdata"/><Relationship Id="rId12" Type="http://schemas.openxmlformats.org/officeDocument/2006/relationships/slide" Target="slides/slide6.xml"/><Relationship Id="rId34" Type="http://schemas.openxmlformats.org/officeDocument/2006/relationships/font" Target="fonts/Urbanist-regular.fntdata"/><Relationship Id="rId15" Type="http://schemas.openxmlformats.org/officeDocument/2006/relationships/slide" Target="slides/slide9.xml"/><Relationship Id="rId37" Type="http://schemas.openxmlformats.org/officeDocument/2006/relationships/font" Target="fonts/Urbanist-boldItalic.fntdata"/><Relationship Id="rId14" Type="http://schemas.openxmlformats.org/officeDocument/2006/relationships/slide" Target="slides/slide8.xml"/><Relationship Id="rId36" Type="http://schemas.openxmlformats.org/officeDocument/2006/relationships/font" Target="fonts/Urbanist-italic.fntdata"/><Relationship Id="rId17" Type="http://schemas.openxmlformats.org/officeDocument/2006/relationships/slide" Target="slides/slide11.xml"/><Relationship Id="rId39" Type="http://schemas.openxmlformats.org/officeDocument/2006/relationships/font" Target="fonts/PoppinsMedium-bold.fntdata"/><Relationship Id="rId16" Type="http://schemas.openxmlformats.org/officeDocument/2006/relationships/slide" Target="slides/slide10.xml"/><Relationship Id="rId38" Type="http://schemas.openxmlformats.org/officeDocument/2006/relationships/font" Target="fonts/Poppins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png"/><Relationship Id="rId4" Type="http://schemas.openxmlformats.org/officeDocument/2006/relationships/image" Target="../media/image20.png"/><Relationship Id="rId11" Type="http://schemas.openxmlformats.org/officeDocument/2006/relationships/image" Target="../media/image14.png"/><Relationship Id="rId10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3.png"/><Relationship Id="rId4" Type="http://schemas.openxmlformats.org/officeDocument/2006/relationships/image" Target="../media/image48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36.png"/><Relationship Id="rId11" Type="http://schemas.openxmlformats.org/officeDocument/2006/relationships/image" Target="../media/image44.png"/><Relationship Id="rId10" Type="http://schemas.openxmlformats.org/officeDocument/2006/relationships/image" Target="../media/image42.png"/><Relationship Id="rId9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Relationship Id="rId4" Type="http://schemas.openxmlformats.org/officeDocument/2006/relationships/image" Target="../media/image55.png"/><Relationship Id="rId5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Relationship Id="rId4" Type="http://schemas.openxmlformats.org/officeDocument/2006/relationships/image" Target="../media/image62.png"/><Relationship Id="rId5" Type="http://schemas.openxmlformats.org/officeDocument/2006/relationships/image" Target="../media/image58.png"/><Relationship Id="rId6" Type="http://schemas.openxmlformats.org/officeDocument/2006/relationships/image" Target="../media/image65.png"/><Relationship Id="rId7" Type="http://schemas.openxmlformats.org/officeDocument/2006/relationships/image" Target="../media/image64.png"/><Relationship Id="rId8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205037"/>
            <a:ext cx="11601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3621"/>
                </a:solidFill>
                <a:latin typeface="Poppins"/>
                <a:ea typeface="Poppins"/>
                <a:cs typeface="Poppins"/>
                <a:sym typeface="Poppins"/>
              </a:rPr>
              <a:t>DATADOSE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33385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Real-Time Drug Interaction Streaming Pipeline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9576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9B5E8"/>
                </a:solidFill>
                <a:latin typeface="Urbanist"/>
                <a:ea typeface="Urbanist"/>
                <a:cs typeface="Urbanist"/>
                <a:sym typeface="Urbanist"/>
              </a:rPr>
              <a:t>Kafka → PySpark → Neo4j → Snowflake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9200" y="63436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9725" y="63436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0" y="634365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71762"/>
            <a:ext cx="5286375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671762"/>
            <a:ext cx="5286375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1099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Business Problem &amp; Safety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5861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Technology Stack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40624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Architecture &amp; Pipeline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45386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Neo4j Enrichment Engine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19875" y="31099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Risk Scoring Logic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19875" y="35861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Snowflake Integration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19875" y="40624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Monitoring &amp; Debugging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19875" y="45386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Summary &amp; Best Practices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3162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63855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41148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591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3162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9875" y="363855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875" y="41148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9875" y="45910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6475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76475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76475"/>
            <a:ext cx="3492549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Business Imperative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3209925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Patient Safety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3752850"/>
            <a:ext cx="2873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Preventing adverse drug events (ADEs) before they occur by analyzing prescriptions in flight.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83174" y="3209925"/>
            <a:ext cx="301709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Real-Time Detection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683174" y="4152900"/>
            <a:ext cx="28734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Traditional batch analysis misses the critical window for intervention during the prescription cycle.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61474" y="3209925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Clinical Decisions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461474" y="3752850"/>
            <a:ext cx="2873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Empowering healthcare providers with automated severity flags: Major, Moderate, and Minor.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908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174" y="25908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474" y="2590800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81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Overview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25431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Safety First. Data Always.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308610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DataDose acts as a real-time clinical sentinel. By streaming prescription events through a graph-based enrichment engine, we provide sub-second risk intelligence.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907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38200" y="41148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52500" y="41148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High-throughput ingestion via managed Kafka.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8200" y="44005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44005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Graph-traversal interaction checks in Neo4j.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8200" y="46863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2500" y="46863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Unified patient risk scoring engine.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8200" y="49720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52500" y="49720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Compliance-ready storage in Snowflake.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43112"/>
            <a:ext cx="34924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043112"/>
            <a:ext cx="3492549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043112"/>
            <a:ext cx="34924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9087"/>
            <a:ext cx="34924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9650" y="4129087"/>
            <a:ext cx="3492549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27950" y="4129087"/>
            <a:ext cx="34924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Enterprise Technology Stack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904875" y="2328862"/>
            <a:ext cx="30169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Kafka (Aiven)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04875" y="2871787"/>
            <a:ext cx="28732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Low-latency message broker for JSON prescription events.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683025" y="2328862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Spark (Azure)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83025" y="2871787"/>
            <a:ext cx="28734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PySpark Structured Streaming on Databricks clusters.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461325" y="2328862"/>
            <a:ext cx="30169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Neo4j AuraDB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461325" y="2871787"/>
            <a:ext cx="28732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Cloud-native graph DB for complex relationship lookups.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04875" y="4414837"/>
            <a:ext cx="30169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Snowflake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04875" y="4957762"/>
            <a:ext cx="28732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Target warehouse for enriched transactional staging.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683025" y="4414837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Python 3.x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683025" y="4957762"/>
            <a:ext cx="28734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Primary logic and orchestration runtime environment.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461325" y="4414837"/>
            <a:ext cx="30169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DB Secrets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461325" y="4957762"/>
            <a:ext cx="28732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Encrypted credentials via Databricks Secret Scopes.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155007"/>
            <a:ext cx="3238500" cy="2414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3155007"/>
            <a:ext cx="3238500" cy="2414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3155007"/>
            <a:ext cx="3238500" cy="2414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85925"/>
            <a:ext cx="1104900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System Architecture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952500" y="2402532"/>
            <a:ext cx="10287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3621"/>
                </a:solidFill>
                <a:latin typeface="Lato"/>
                <a:ea typeface="Lato"/>
                <a:cs typeface="Lato"/>
                <a:sym typeface="Lato"/>
              </a:rPr>
              <a:t>DataDose.in → Spark Streaming → foreachBatch()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220390" y="3643312"/>
            <a:ext cx="2750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Ingestion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285875" y="4026842"/>
            <a:ext cx="2619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Managed Kafka consumes SASL_SSL SCRAM-SHA-256 events.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744640" y="3643312"/>
            <a:ext cx="2750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Enrichment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810125" y="4026842"/>
            <a:ext cx="2619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Neo4j Graph Traversal for drug-to-drug &amp; ingredient overlaps.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268890" y="3643312"/>
            <a:ext cx="2750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334375" y="4026842"/>
            <a:ext cx="2619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Enriched rows land in Snowflake STG_TRANSACTION (Append Mode).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15811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7909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0007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82105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04203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Streaming Pipeline Lifecycle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71500" y="42243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516254" y="47958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PRODUCER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50815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JSON Events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2726055" y="29670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KAFKA TOPIC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2781300" y="32527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Aiven Message Broker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4935855" y="47958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CONSUMER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4991100" y="50815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Spark Structured Stream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145655" y="29670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ENRICHMENT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200900" y="32527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Graph lookup &amp; Scoring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355455" y="47958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SNOWFLAKE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410700" y="50815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Append Staging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Neo4j Drug Interaction Engine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5261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6334125" y="257651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Relationship Mapping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24362"/>
            <a:ext cx="52863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6334125" y="312896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INTERACTS_WITH: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Links Drugs to detect contraindications.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334125" y="355758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HAS_INGREDIENT: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Detects shared active agents.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334125" y="398621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SEVERITY: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Major, Moderate, Minor metadata retrieval.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1813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609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0386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Real-Time Risk Scoring Logic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2947987"/>
            <a:ext cx="52768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3621"/>
                </a:solidFill>
                <a:latin typeface="Urbanist"/>
                <a:ea typeface="Urbanist"/>
                <a:cs typeface="Urbanist"/>
                <a:sym typeface="Urbanist"/>
              </a:rPr>
              <a:t>60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3900487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 RISK THRESHOLD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715125" y="2947987"/>
            <a:ext cx="51506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3621"/>
                </a:solidFill>
                <a:latin typeface="Poppins"/>
                <a:ea typeface="Poppins"/>
                <a:cs typeface="Poppins"/>
                <a:sym typeface="Poppins"/>
              </a:rPr>
              <a:t>Scoring Components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715125" y="35194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Severity: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Major(40), Moderate(20), Minor(10)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715125" y="38052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Polypharmacy: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+5 if medications ≥ 5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715125" y="40909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Age Multiplier: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1.0 + (Age - 40) * 0.005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715125" y="45672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Lato"/>
                <a:ea typeface="Lato"/>
                <a:cs typeface="Lato"/>
                <a:sym typeface="Lato"/>
              </a:rPr>
              <a:t>Result → PATIENT_RISK_SCORE</a:t>
            </a:r>
            <a:endParaRPr/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25" y="35718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25" y="3857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25" y="4143375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Snowflake Staging Integration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22"/>
          <p:cNvGraphicFramePr/>
          <p:nvPr/>
        </p:nvGraphicFramePr>
        <p:xfrm>
          <a:off x="571500" y="2528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{7DBD5C23-C7B0-40D5-813E-DBB037F2C2D6}</a:tableStyleId>
              </a:tblPr>
              <a:tblGrid>
                <a:gridCol w="2455225"/>
                <a:gridCol w="4910575"/>
                <a:gridCol w="3683200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9B5E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9B5E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9B5E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 /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B4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PHARMA_ANALYTICS_DB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Central Repository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Schema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Raw Landing Zone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STG_TRANSACTION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Append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Warehouse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PHARMA_WH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Scalable Compute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PYSPARK_ROLE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Secure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2"/>
          <p:cNvSpPr/>
          <p:nvPr/>
        </p:nvSpPr>
        <p:spPr>
          <a:xfrm>
            <a:off x="571500" y="3048000"/>
            <a:ext cx="2455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026717" y="3048000"/>
            <a:ext cx="49105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7937301" y="3048000"/>
            <a:ext cx="36831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71500" y="3524250"/>
            <a:ext cx="2455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026717" y="3524250"/>
            <a:ext cx="49105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7937301" y="3524250"/>
            <a:ext cx="36831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71500" y="4000500"/>
            <a:ext cx="2455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026717" y="4000500"/>
            <a:ext cx="49105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7937301" y="4000500"/>
            <a:ext cx="36831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571500" y="4476750"/>
            <a:ext cx="2455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3026717" y="4476750"/>
            <a:ext cx="49105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937301" y="4476750"/>
            <a:ext cx="36831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71500" y="4953000"/>
            <a:ext cx="2455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026717" y="4953000"/>
            <a:ext cx="49105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7937301" y="4953000"/>
            <a:ext cx="36831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71500" y="5429250"/>
            <a:ext cx="2455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3026717" y="5429250"/>
            <a:ext cx="49105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7937301" y="5429250"/>
            <a:ext cx="36831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00287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300287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300287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86037"/>
            <a:ext cx="287342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174" y="2586037"/>
            <a:ext cx="287342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474" y="2586037"/>
            <a:ext cx="2873424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Operational Monitoring Dashboard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33039" y="4157662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Connectivity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904875" y="4700587"/>
            <a:ext cx="28734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Kafka &amp; Neo4j pings verified in Step 3.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4611338" y="4157662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Stream Health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4683174" y="4700587"/>
            <a:ext cx="28734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Active query progress monitoring (Step 9).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389638" y="4157662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461474" y="4700587"/>
            <a:ext cx="28734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Automatic JSON schema enforcement (Step 6).</a:t>
            </a:r>
            <a:endParaRPr/>
          </a:p>
        </p:txBody>
      </p:sp>
      <p:pic>
        <p:nvPicPr>
          <p:cNvPr descr="image.png" id="291" name="Google Shape;29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2595562"/>
            <a:ext cx="2854374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2699" y="2595562"/>
            <a:ext cx="2854374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0999" y="2595562"/>
            <a:ext cx="2854374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95562"/>
            <a:ext cx="528637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95562"/>
            <a:ext cx="528637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Configuration &amp; Security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904875" y="3529012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Secrets Management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904875" y="4071937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Usage of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Databricks Secret Scopes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(datadose) ensures zero plain-text passwords in source code.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667500" y="3529012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Auth Protocols</a:t>
            </a:r>
            <a:endParaRPr/>
          </a:p>
        </p:txBody>
      </p:sp>
      <p:pic>
        <p:nvPicPr>
          <p:cNvPr descr="image.png" id="305" name="Google Shape;3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29098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909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6934200" y="40814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7048500" y="408146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Kafka: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SASL_SSL (SCRAM-SHA-256)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934200" y="43672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7048500" y="436721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Neo4j: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URI with Auth Token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6934200" y="46529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7048500" y="465296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Snowflake: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User/Pass Auth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/>
          <p:nvPr/>
        </p:nvSpPr>
        <p:spPr>
          <a:xfrm>
            <a:off x="15811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37909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60007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82105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0420350" y="41290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3621"/>
          </a:solidFill>
          <a:ln cap="flat" cmpd="sng" w="38100">
            <a:solidFill>
              <a:srgbClr val="1B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Pipeline Execution Timeline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71500" y="42243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516254" y="47958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Step 0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571500" y="50815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Install Drivers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2726055" y="29670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Step 1-4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2781300" y="32527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Config &amp; Conn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4935855" y="47958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Step 5-6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991100" y="50815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Schema &amp; Stream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7145655" y="29670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Step 7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7200900" y="32527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Batch Logic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9355455" y="4795837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Step 8-9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9410700" y="5081587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Start &amp; Monitor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85925"/>
            <a:ext cx="1104900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Performance &amp; Reliability</a:t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571500" y="47148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Fault tolerance ensured via DBFS Checkpointing &amp; ForeachBatch atomic commits.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43225"/>
            <a:ext cx="3492549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943225"/>
            <a:ext cx="3492549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943225"/>
            <a:ext cx="3492549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Engineering Best Practices</a:t>
            </a:r>
            <a:endParaRPr/>
          </a:p>
        </p:txBody>
      </p:sp>
      <p:sp>
        <p:nvSpPr>
          <p:cNvPr id="351" name="Google Shape;351;p2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904875" y="3228975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Resilience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904875" y="3771900"/>
            <a:ext cx="2873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Checkpointing allows the stream to resume exactly where it left off after any cluster failure.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4683174" y="3228975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4683174" y="3771900"/>
            <a:ext cx="2873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Isolation of credentials using Secret Scopes and SCRAM-SHA-256 encrypted transit.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8461474" y="3228975"/>
            <a:ext cx="30170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Observability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8461474" y="3771900"/>
            <a:ext cx="2873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17 distinct Debug cells provide granular insight into connectivity, schema, and processing health.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738437"/>
            <a:ext cx="52863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509962"/>
            <a:ext cx="46958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Integration inside DataDose</a:t>
            </a:r>
            <a:endParaRPr/>
          </a:p>
        </p:txBody>
      </p:sp>
      <p:sp>
        <p:nvSpPr>
          <p:cNvPr id="365" name="Google Shape;365;p2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571500" y="27051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Module Ecosystem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571500" y="32480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pipeline is the "nervous system" of DataDose, connecting raw ingestion to the analytical brain.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6629400" y="3033712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B5E8"/>
                </a:solidFill>
                <a:latin typeface="Lato"/>
                <a:ea typeface="Lato"/>
                <a:cs typeface="Lato"/>
                <a:sym typeface="Lato"/>
              </a:rPr>
              <a:t>DATA FLOW VELOCITY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838200" y="39719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0" name="Google Shape;370;p28"/>
          <p:cNvSpPr txBox="1"/>
          <p:nvPr/>
        </p:nvSpPr>
        <p:spPr>
          <a:xfrm>
            <a:off x="952500" y="39719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Prescription Cleaning Pipeline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838200" y="42576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952500" y="42576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Knowledge: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Neo4j Master Graph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838200" y="45434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952500" y="45434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Storage: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Snowflake Global Warehouse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838200" y="4829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952500" y="48291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Power BI &amp; Clinical Dashboard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19412"/>
            <a:ext cx="528637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19412"/>
            <a:ext cx="528637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Summary</a:t>
            </a:r>
            <a:endParaRPr/>
          </a:p>
        </p:txBody>
      </p:sp>
      <p:sp>
        <p:nvSpPr>
          <p:cNvPr id="384" name="Google Shape;384;p2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904875" y="3205162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Technical Achievements</a:t>
            </a:r>
            <a:endParaRPr/>
          </a:p>
        </p:txBody>
      </p:sp>
      <p:sp>
        <p:nvSpPr>
          <p:cNvPr id="386" name="Google Shape;386;p29"/>
          <p:cNvSpPr txBox="1"/>
          <p:nvPr/>
        </p:nvSpPr>
        <p:spPr>
          <a:xfrm>
            <a:off x="6667500" y="3205162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B5E8"/>
                </a:solidFill>
                <a:latin typeface="Poppins"/>
                <a:ea typeface="Poppins"/>
                <a:cs typeface="Poppins"/>
                <a:sym typeface="Poppins"/>
              </a:rPr>
              <a:t>Future Scalability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1171575" y="37576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1285875" y="375761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Successful Aiven-Databricks-Neo4j handshake.</a:t>
            </a:r>
            <a:endParaRPr/>
          </a:p>
        </p:txBody>
      </p:sp>
      <p:sp>
        <p:nvSpPr>
          <p:cNvPr id="389" name="Google Shape;389;p29"/>
          <p:cNvSpPr txBox="1"/>
          <p:nvPr/>
        </p:nvSpPr>
        <p:spPr>
          <a:xfrm>
            <a:off x="1171575" y="40433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0" name="Google Shape;390;p29"/>
          <p:cNvSpPr txBox="1"/>
          <p:nvPr/>
        </p:nvSpPr>
        <p:spPr>
          <a:xfrm>
            <a:off x="1285875" y="404336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severity-weighted risk engine.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1171575" y="43291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1285875" y="432911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Scalable Structured Streaming design.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6934200" y="37576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4" name="Google Shape;394;p29"/>
          <p:cNvSpPr txBox="1"/>
          <p:nvPr/>
        </p:nvSpPr>
        <p:spPr>
          <a:xfrm>
            <a:off x="7048500" y="375761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Extensible to higher volume medication streams.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6934200" y="40433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7048500" y="404336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Potential for ML integration in Risk Scoring.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6934200" y="43291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7048500" y="4329112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Direct feed to real-time clinical alerts.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295275" y="194786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362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571500" y="3090862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9B5E8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571500" y="41100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DataDose Project: Real-Time Drug Interaction Pipeline</a:t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571500" y="45100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Databricks • Kafka • Neo4j • Snowflake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E2E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Image Sources</a:t>
            </a:r>
            <a:endParaRPr/>
          </a:p>
        </p:txBody>
      </p:sp>
      <p:sp>
        <p:nvSpPr>
          <p:cNvPr id="414" name="Google Shape;414;p31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571500" y="15906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571500" y="2362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571500" y="31337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571500" y="48482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571500" y="2352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571500" y="2352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571500" y="3124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571500" y="3124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1"/>
          <p:cNvSpPr/>
          <p:nvPr/>
        </p:nvSpPr>
        <p:spPr>
          <a:xfrm>
            <a:off x="571500" y="4067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571500" y="4067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571500" y="4838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1"/>
          <p:cNvSpPr/>
          <p:nvPr/>
        </p:nvSpPr>
        <p:spPr>
          <a:xfrm>
            <a:off x="571500" y="4838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571500" y="5610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571500" y="5610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0" name="Google Shape;4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33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/>
          <p:nvPr/>
        </p:nvSpPr>
        <p:spPr>
          <a:xfrm>
            <a:off x="1666875" y="17406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https://img.freepik.com/premium-photo/abstract-illustration-medical-equipment-symbols-data-visualizations_717577-38698.jpg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1666875" y="19740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433" name="Google Shape;4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5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 txBox="1"/>
          <p:nvPr/>
        </p:nvSpPr>
        <p:spPr>
          <a:xfrm>
            <a:off x="1666875" y="2512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https://inforiver.com/wp-content/uploads/power-bi-network-graph-node-format-by-level-source-target.png</a:t>
            </a:r>
            <a:endParaRPr/>
          </a:p>
        </p:txBody>
      </p:sp>
      <p:sp>
        <p:nvSpPr>
          <p:cNvPr id="435" name="Google Shape;435;p31"/>
          <p:cNvSpPr txBox="1"/>
          <p:nvPr/>
        </p:nvSpPr>
        <p:spPr>
          <a:xfrm>
            <a:off x="1666875" y="2745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inforiver.com</a:t>
            </a:r>
            <a:endParaRPr/>
          </a:p>
        </p:txBody>
      </p:sp>
      <p:pic>
        <p:nvPicPr>
          <p:cNvPr descr="image.png" id="436" name="Google Shape;4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62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1"/>
          <p:cNvSpPr txBox="1"/>
          <p:nvPr/>
        </p:nvSpPr>
        <p:spPr>
          <a:xfrm>
            <a:off x="1666875" y="32766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https://static.vecteezy.com/system/resources/thumbnails/068/039/655/small/colorful-loading-progress-bars-in-green-yellow-and-red-flat-design-infographic-element-for-status-indicator-user-interface-dashboard-or-web-design-vector.jpg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1666875" y="36957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439" name="Google Shape;43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19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1"/>
          <p:cNvSpPr txBox="1"/>
          <p:nvPr/>
        </p:nvSpPr>
        <p:spPr>
          <a:xfrm>
            <a:off x="1666875" y="4226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https://cdn.prod.website-files.com/689f8aab1977008c61538b01/6a1fe92879e952be610b9021_kafka%20monitoring.png</a:t>
            </a: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1666875" y="4460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factorhouse.io</a:t>
            </a:r>
            <a:endParaRPr/>
          </a:p>
        </p:txBody>
      </p:sp>
      <p:pic>
        <p:nvPicPr>
          <p:cNvPr descr="image.png" id="442" name="Google Shape;442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91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1666875" y="49982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https://static.vecteezy.com/system/resources/thumbnails/059/676/696/small/check-mark-icon-set-validation-symbols-tick-sign-illustrations-transparent-background-free-vector.jpg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1666875" y="52316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445" name="Google Shape;44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762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1"/>
          <p:cNvSpPr txBox="1"/>
          <p:nvPr/>
        </p:nvSpPr>
        <p:spPr>
          <a:xfrm>
            <a:off x="1666875" y="57697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https://daxg39y63pxwu.cloudfront.net/images/blog/spark-streaming-example/image_795716530101640689003007.png</a:t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1666875" y="60031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www.projectpro.io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