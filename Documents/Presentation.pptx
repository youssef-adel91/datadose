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nva Sans" charset="1" panose="020B0503030501040103"/>
      <p:regular r:id="rId23"/>
    </p:embeddedFont>
    <p:embeddedFont>
      <p:font typeface="Cairo Bold" charset="1" panose="00000800000000000000"/>
      <p:regular r:id="rId24"/>
    </p:embeddedFont>
    <p:embeddedFont>
      <p:font typeface="Canva Sans Bold" charset="1" panose="020B0803030501040103"/>
      <p:regular r:id="rId25"/>
    </p:embeddedFont>
    <p:embeddedFont>
      <p:font typeface="League Spartan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https://canva.link/9j74jyak29oh6tw" TargetMode="External" Type="http://schemas.openxmlformats.org/officeDocument/2006/relationships/hyperlink"/><Relationship Id="rId16" Target="../media/image35.png" Type="http://schemas.openxmlformats.org/officeDocument/2006/relationships/image"/><Relationship Id="rId17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14" Target="../media/image44.png" Type="http://schemas.openxmlformats.org/officeDocument/2006/relationships/image"/><Relationship Id="rId15" Target="../media/image4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4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47.png" Type="http://schemas.openxmlformats.org/officeDocument/2006/relationships/image"/><Relationship Id="rId8" Target="https://drawsql.app/teams/database-280/diagrams/datadosefv" TargetMode="External" Type="http://schemas.openxmlformats.org/officeDocument/2006/relationships/hyperlink"/><Relationship Id="rId9" Target="../media/image4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4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56.png" Type="http://schemas.openxmlformats.org/officeDocument/2006/relationships/image"/><Relationship Id="rId14" Target="../media/image57.svg" Type="http://schemas.openxmlformats.org/officeDocument/2006/relationships/image"/><Relationship Id="rId15" Target="../media/image58.png" Type="http://schemas.openxmlformats.org/officeDocument/2006/relationships/image"/><Relationship Id="rId16" Target="../media/image59.svg" Type="http://schemas.openxmlformats.org/officeDocument/2006/relationships/image"/><Relationship Id="rId17" Target="../media/image60.png" Type="http://schemas.openxmlformats.org/officeDocument/2006/relationships/image"/><Relationship Id="rId18" Target="../media/image6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https://datadoseinfo.lovable.app" TargetMode="External" Type="http://schemas.openxmlformats.org/officeDocument/2006/relationships/hyperlink"/><Relationship Id="rId8" Target="../media/image10.png" Type="http://schemas.openxmlformats.org/officeDocument/2006/relationships/image"/><Relationship Id="rId9" Target="../media/image6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01618" y="5337683"/>
            <a:ext cx="9138132" cy="629983"/>
            <a:chOff x="0" y="0"/>
            <a:chExt cx="12184175" cy="8399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6430" cy="839977"/>
            </a:xfrm>
            <a:custGeom>
              <a:avLst/>
              <a:gdLst/>
              <a:ahLst/>
              <a:cxnLst/>
              <a:rect r="r" b="b" t="t" l="l"/>
              <a:pathLst>
                <a:path h="839977" w="1206430">
                  <a:moveTo>
                    <a:pt x="0" y="0"/>
                  </a:moveTo>
                  <a:lnTo>
                    <a:pt x="1206430" y="0"/>
                  </a:lnTo>
                  <a:lnTo>
                    <a:pt x="1206430" y="839977"/>
                  </a:lnTo>
                  <a:lnTo>
                    <a:pt x="0" y="83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581479" y="-67914"/>
              <a:ext cx="10602696" cy="8984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07"/>
                </a:lnSpc>
              </a:pPr>
              <a:r>
                <a:rPr lang="en-US" sz="4076" b="true">
                  <a:solidFill>
                    <a:srgbClr val="21A176"/>
                  </a:solidFill>
                  <a:latin typeface="Cairo Bold"/>
                  <a:ea typeface="Cairo Bold"/>
                  <a:cs typeface="Cairo Bold"/>
                  <a:sym typeface="Cairo Bold"/>
                </a:rPr>
                <a:t>Data Dose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19890" y="6600007"/>
            <a:ext cx="5550794" cy="597819"/>
            <a:chOff x="0" y="0"/>
            <a:chExt cx="7401058" cy="7970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505654" y="0"/>
              <a:ext cx="762220" cy="797092"/>
            </a:xfrm>
            <a:custGeom>
              <a:avLst/>
              <a:gdLst/>
              <a:ahLst/>
              <a:cxnLst/>
              <a:rect r="r" b="b" t="t" l="l"/>
              <a:pathLst>
                <a:path h="797092" w="762220">
                  <a:moveTo>
                    <a:pt x="0" y="0"/>
                  </a:moveTo>
                  <a:lnTo>
                    <a:pt x="762220" y="0"/>
                  </a:lnTo>
                  <a:lnTo>
                    <a:pt x="762220" y="797092"/>
                  </a:lnTo>
                  <a:lnTo>
                    <a:pt x="0" y="79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-66675"/>
              <a:ext cx="7401058" cy="73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12"/>
                </a:lnSpc>
              </a:pPr>
              <a:r>
                <a:rPr lang="en-US" sz="3294">
                  <a:solidFill>
                    <a:srgbClr val="21A17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June 26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242122" y="4769908"/>
            <a:ext cx="4542530" cy="3624527"/>
          </a:xfrm>
          <a:custGeom>
            <a:avLst/>
            <a:gdLst/>
            <a:ahLst/>
            <a:cxnLst/>
            <a:rect r="r" b="b" t="t" l="l"/>
            <a:pathLst>
              <a:path h="3624527" w="4542530">
                <a:moveTo>
                  <a:pt x="0" y="0"/>
                </a:moveTo>
                <a:lnTo>
                  <a:pt x="4542530" y="0"/>
                </a:lnTo>
                <a:lnTo>
                  <a:pt x="4542530" y="3624527"/>
                </a:lnTo>
                <a:lnTo>
                  <a:pt x="0" y="36245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0214" t="-77860" r="-169896" b="-97953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-2047156" y="2801276"/>
            <a:ext cx="14289278" cy="1446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74"/>
              </a:lnSpc>
            </a:pPr>
            <a:r>
              <a:rPr lang="en-US" b="true" sz="8481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DataDose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-1559609" y="4190993"/>
            <a:ext cx="1867856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Clinic</a:t>
            </a:r>
            <a:r>
              <a:rPr lang="en-US" b="true" sz="3000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 Decision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10815" y="2332019"/>
            <a:ext cx="622401" cy="599061"/>
          </a:xfrm>
          <a:custGeom>
            <a:avLst/>
            <a:gdLst/>
            <a:ahLst/>
            <a:cxnLst/>
            <a:rect r="r" b="b" t="t" l="l"/>
            <a:pathLst>
              <a:path h="599061" w="622401">
                <a:moveTo>
                  <a:pt x="0" y="0"/>
                </a:moveTo>
                <a:lnTo>
                  <a:pt x="622402" y="0"/>
                </a:lnTo>
                <a:lnTo>
                  <a:pt x="622402" y="599062"/>
                </a:lnTo>
                <a:lnTo>
                  <a:pt x="0" y="5990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61792" y="2474390"/>
            <a:ext cx="1387773" cy="44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2637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18452" y="2332019"/>
            <a:ext cx="3709699" cy="682376"/>
            <a:chOff x="0" y="0"/>
            <a:chExt cx="4946265" cy="9098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2182" cy="909835"/>
            </a:xfrm>
            <a:custGeom>
              <a:avLst/>
              <a:gdLst/>
              <a:ahLst/>
              <a:cxnLst/>
              <a:rect r="r" b="b" t="t" l="l"/>
              <a:pathLst>
                <a:path h="909835" w="722182">
                  <a:moveTo>
                    <a:pt x="0" y="0"/>
                  </a:moveTo>
                  <a:lnTo>
                    <a:pt x="722182" y="0"/>
                  </a:lnTo>
                  <a:lnTo>
                    <a:pt x="722182" y="909835"/>
                  </a:lnTo>
                  <a:lnTo>
                    <a:pt x="0" y="909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 rot="0">
              <a:off x="961831" y="205703"/>
              <a:ext cx="3984434" cy="580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92"/>
                </a:lnSpc>
                <a:spcBef>
                  <a:spcPct val="0"/>
                </a:spcBef>
              </a:pPr>
              <a:r>
                <a:rPr lang="en-US" b="true" sz="2637">
                  <a:solidFill>
                    <a:srgbClr val="21A17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Propused solution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099951" y="2490546"/>
            <a:ext cx="3709699" cy="462480"/>
            <a:chOff x="0" y="0"/>
            <a:chExt cx="4946265" cy="616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5341" cy="571018"/>
            </a:xfrm>
            <a:custGeom>
              <a:avLst/>
              <a:gdLst/>
              <a:ahLst/>
              <a:cxnLst/>
              <a:rect r="r" b="b" t="t" l="l"/>
              <a:pathLst>
                <a:path h="571018" w="1045341">
                  <a:moveTo>
                    <a:pt x="0" y="0"/>
                  </a:moveTo>
                  <a:lnTo>
                    <a:pt x="1045341" y="0"/>
                  </a:lnTo>
                  <a:lnTo>
                    <a:pt x="1045341" y="571018"/>
                  </a:lnTo>
                  <a:lnTo>
                    <a:pt x="0" y="571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961831" y="36295"/>
              <a:ext cx="3984434" cy="580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92"/>
                </a:lnSpc>
                <a:spcBef>
                  <a:spcPct val="0"/>
                </a:spcBef>
              </a:pPr>
              <a:r>
                <a:rPr lang="en-US" b="true" sz="2637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Unique Value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60262" y="3540681"/>
            <a:ext cx="5558190" cy="355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3539"/>
              </a:lnSpc>
              <a:buFont typeface="Arial"/>
              <a:buChar char="•"/>
            </a:pP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Patients receive multiple medications from </a:t>
            </a:r>
            <a:r>
              <a:rPr lang="en-US" b="true" sz="1999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different sources</a:t>
            </a:r>
          </a:p>
          <a:p>
            <a:pPr algn="l" marL="431799" indent="-215899" lvl="1">
              <a:lnSpc>
                <a:spcPts val="3539"/>
              </a:lnSpc>
              <a:buFont typeface="Arial"/>
              <a:buChar char="•"/>
            </a:pP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Drug interactions are difficult to </a:t>
            </a:r>
            <a:r>
              <a:rPr lang="en-US" b="true" sz="1999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detect manually</a:t>
            </a:r>
          </a:p>
          <a:p>
            <a:pPr algn="l" marL="431799" indent="-215899" lvl="1">
              <a:lnSpc>
                <a:spcPts val="3539"/>
              </a:lnSpc>
              <a:buFont typeface="Arial"/>
              <a:buChar char="•"/>
            </a:pP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Healthcare data is fragmented across systems</a:t>
            </a:r>
          </a:p>
          <a:p>
            <a:pPr algn="l" marL="431799" indent="-215899" lvl="1">
              <a:lnSpc>
                <a:spcPts val="3539"/>
              </a:lnSpc>
              <a:buFont typeface="Arial"/>
              <a:buChar char="•"/>
            </a:pP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Late detection can cause</a:t>
            </a:r>
            <a:r>
              <a:rPr lang="en-US" b="true" sz="1999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harmful medication events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18452" y="3540681"/>
            <a:ext cx="5558190" cy="265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1999" b="true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ataDose provides:</a:t>
            </a:r>
          </a:p>
          <a:p>
            <a:pPr algn="l" marL="431799" indent="-215899" lvl="1">
              <a:lnSpc>
                <a:spcPts val="3539"/>
              </a:lnSpc>
              <a:buFont typeface="Arial"/>
              <a:buChar char="•"/>
            </a:pPr>
            <a:r>
              <a:rPr lang="en-US" b="true" sz="1999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drug</a:t>
            </a: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safety platform</a:t>
            </a:r>
          </a:p>
          <a:p>
            <a:pPr algn="l" marL="431799" indent="-215899" lvl="1">
              <a:lnSpc>
                <a:spcPts val="3539"/>
              </a:lnSpc>
              <a:buFont typeface="Arial"/>
              <a:buChar char="•"/>
            </a:pPr>
            <a:r>
              <a:rPr lang="en-US" b="true" sz="1999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interaction</a:t>
            </a: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scanning</a:t>
            </a:r>
          </a:p>
          <a:p>
            <a:pPr algn="l" marL="431799" indent="-215899" lvl="1">
              <a:lnSpc>
                <a:spcPts val="3539"/>
              </a:lnSpc>
              <a:buFont typeface="Arial"/>
              <a:buChar char="•"/>
            </a:pP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Clinical knowledge </a:t>
            </a:r>
            <a:r>
              <a:rPr lang="en-US" b="true" sz="1999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graph</a:t>
            </a:r>
          </a:p>
          <a:p>
            <a:pPr algn="l" marL="431799" indent="-215899" lvl="1">
              <a:lnSpc>
                <a:spcPts val="3539"/>
              </a:lnSpc>
              <a:buFont typeface="Arial"/>
              <a:buChar char="•"/>
            </a:pPr>
            <a:r>
              <a:rPr lang="en-US" b="true" sz="1999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Intelligent </a:t>
            </a: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healthcare analytics</a:t>
            </a:r>
          </a:p>
          <a:p>
            <a:pPr algn="l">
              <a:lnSpc>
                <a:spcPts val="353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471942" y="3649542"/>
            <a:ext cx="5558190" cy="265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3539"/>
              </a:lnSpc>
              <a:buFont typeface="Arial"/>
              <a:buChar char="•"/>
            </a:pP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ombines </a:t>
            </a:r>
            <a:r>
              <a:rPr lang="en-US" b="true" sz="19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</a:t>
            </a: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+ Graph Database + </a:t>
            </a:r>
            <a:r>
              <a:rPr lang="en-US" b="true" sz="19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Big Data</a:t>
            </a: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Engineering</a:t>
            </a:r>
          </a:p>
          <a:p>
            <a:pPr algn="l" marL="431799" indent="-215899" lvl="1">
              <a:lnSpc>
                <a:spcPts val="3539"/>
              </a:lnSpc>
              <a:buFont typeface="Arial"/>
              <a:buChar char="•"/>
            </a:pPr>
            <a:r>
              <a:rPr lang="en-US" b="true" sz="19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Supports </a:t>
            </a: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doctors, pharmacists, and patients</a:t>
            </a:r>
          </a:p>
          <a:p>
            <a:pPr algn="l" marL="431799" indent="-215899" lvl="1">
              <a:lnSpc>
                <a:spcPts val="3539"/>
              </a:lnSpc>
              <a:buFont typeface="Arial"/>
              <a:buChar char="•"/>
            </a:pPr>
            <a:r>
              <a:rPr lang="en-US" b="true" sz="19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End-to-end</a:t>
            </a:r>
            <a:r>
              <a:rPr lang="en-US" b="true" sz="1999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analytics pipeline</a:t>
            </a:r>
          </a:p>
          <a:p>
            <a:pPr algn="l">
              <a:lnSpc>
                <a:spcPts val="353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565318" y="582920"/>
            <a:ext cx="7157365" cy="72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true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Idea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442013" y="6196251"/>
            <a:ext cx="1372278" cy="1094953"/>
          </a:xfrm>
          <a:custGeom>
            <a:avLst/>
            <a:gdLst/>
            <a:ahLst/>
            <a:cxnLst/>
            <a:rect r="r" b="b" t="t" l="l"/>
            <a:pathLst>
              <a:path h="1094953" w="1372278">
                <a:moveTo>
                  <a:pt x="0" y="0"/>
                </a:moveTo>
                <a:lnTo>
                  <a:pt x="1372277" y="0"/>
                </a:lnTo>
                <a:lnTo>
                  <a:pt x="1372277" y="1094953"/>
                </a:lnTo>
                <a:lnTo>
                  <a:pt x="0" y="109495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0214" t="-77860" r="-169896" b="-9795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9156" y="2494352"/>
            <a:ext cx="3965464" cy="6097124"/>
            <a:chOff x="0" y="0"/>
            <a:chExt cx="812800" cy="12497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249726"/>
            </a:xfrm>
            <a:custGeom>
              <a:avLst/>
              <a:gdLst/>
              <a:ahLst/>
              <a:cxnLst/>
              <a:rect r="r" b="b" t="t" l="l"/>
              <a:pathLst>
                <a:path h="1249726" w="812800">
                  <a:moveTo>
                    <a:pt x="44904" y="0"/>
                  </a:moveTo>
                  <a:lnTo>
                    <a:pt x="767896" y="0"/>
                  </a:lnTo>
                  <a:cubicBezTo>
                    <a:pt x="779805" y="0"/>
                    <a:pt x="791227" y="4731"/>
                    <a:pt x="799648" y="13152"/>
                  </a:cubicBezTo>
                  <a:cubicBezTo>
                    <a:pt x="808069" y="21573"/>
                    <a:pt x="812800" y="32995"/>
                    <a:pt x="812800" y="44904"/>
                  </a:cubicBezTo>
                  <a:lnTo>
                    <a:pt x="812800" y="1204822"/>
                  </a:lnTo>
                  <a:cubicBezTo>
                    <a:pt x="812800" y="1216731"/>
                    <a:pt x="808069" y="1228153"/>
                    <a:pt x="799648" y="1236574"/>
                  </a:cubicBezTo>
                  <a:cubicBezTo>
                    <a:pt x="791227" y="1244995"/>
                    <a:pt x="779805" y="1249726"/>
                    <a:pt x="767896" y="1249726"/>
                  </a:cubicBezTo>
                  <a:lnTo>
                    <a:pt x="44904" y="1249726"/>
                  </a:lnTo>
                  <a:cubicBezTo>
                    <a:pt x="32995" y="1249726"/>
                    <a:pt x="21573" y="1244995"/>
                    <a:pt x="13152" y="1236574"/>
                  </a:cubicBezTo>
                  <a:cubicBezTo>
                    <a:pt x="4731" y="1228153"/>
                    <a:pt x="0" y="1216731"/>
                    <a:pt x="0" y="1204822"/>
                  </a:cubicBezTo>
                  <a:lnTo>
                    <a:pt x="0" y="44904"/>
                  </a:lnTo>
                  <a:cubicBezTo>
                    <a:pt x="0" y="32995"/>
                    <a:pt x="4731" y="21573"/>
                    <a:pt x="13152" y="13152"/>
                  </a:cubicBezTo>
                  <a:cubicBezTo>
                    <a:pt x="21573" y="4731"/>
                    <a:pt x="32995" y="0"/>
                    <a:pt x="44904" y="0"/>
                  </a:cubicBezTo>
                  <a:close/>
                </a:path>
              </a:pathLst>
            </a:custGeom>
            <a:blipFill>
              <a:blip r:embed="rId7"/>
              <a:stretch>
                <a:fillRect l="-74" t="0" r="-74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565318" y="532141"/>
            <a:ext cx="7157365" cy="72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true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Wireframe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18605" y="1851090"/>
            <a:ext cx="8356094" cy="3982809"/>
            <a:chOff x="0" y="0"/>
            <a:chExt cx="2621975" cy="12497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21975" cy="1249726"/>
            </a:xfrm>
            <a:custGeom>
              <a:avLst/>
              <a:gdLst/>
              <a:ahLst/>
              <a:cxnLst/>
              <a:rect r="r" b="b" t="t" l="l"/>
              <a:pathLst>
                <a:path h="1249726" w="2621975">
                  <a:moveTo>
                    <a:pt x="21309" y="0"/>
                  </a:moveTo>
                  <a:lnTo>
                    <a:pt x="2600666" y="0"/>
                  </a:lnTo>
                  <a:cubicBezTo>
                    <a:pt x="2612435" y="0"/>
                    <a:pt x="2621975" y="9541"/>
                    <a:pt x="2621975" y="21309"/>
                  </a:cubicBezTo>
                  <a:lnTo>
                    <a:pt x="2621975" y="1228416"/>
                  </a:lnTo>
                  <a:cubicBezTo>
                    <a:pt x="2621975" y="1234068"/>
                    <a:pt x="2619730" y="1239488"/>
                    <a:pt x="2615734" y="1243484"/>
                  </a:cubicBezTo>
                  <a:cubicBezTo>
                    <a:pt x="2611738" y="1247481"/>
                    <a:pt x="2606317" y="1249726"/>
                    <a:pt x="2600666" y="1249726"/>
                  </a:cubicBezTo>
                  <a:lnTo>
                    <a:pt x="21309" y="1249726"/>
                  </a:lnTo>
                  <a:cubicBezTo>
                    <a:pt x="9541" y="1249726"/>
                    <a:pt x="0" y="1240185"/>
                    <a:pt x="0" y="1228416"/>
                  </a:cubicBezTo>
                  <a:lnTo>
                    <a:pt x="0" y="21309"/>
                  </a:lnTo>
                  <a:cubicBezTo>
                    <a:pt x="0" y="9541"/>
                    <a:pt x="9541" y="0"/>
                    <a:pt x="21309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454" r="0" b="-667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311183" y="1531246"/>
            <a:ext cx="3590858" cy="4622496"/>
            <a:chOff x="0" y="0"/>
            <a:chExt cx="970815" cy="12497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0815" cy="1249726"/>
            </a:xfrm>
            <a:custGeom>
              <a:avLst/>
              <a:gdLst/>
              <a:ahLst/>
              <a:cxnLst/>
              <a:rect r="r" b="b" t="t" l="l"/>
              <a:pathLst>
                <a:path h="1249726" w="970815">
                  <a:moveTo>
                    <a:pt x="49588" y="0"/>
                  </a:moveTo>
                  <a:lnTo>
                    <a:pt x="921227" y="0"/>
                  </a:lnTo>
                  <a:cubicBezTo>
                    <a:pt x="934379" y="0"/>
                    <a:pt x="946991" y="5224"/>
                    <a:pt x="956291" y="14524"/>
                  </a:cubicBezTo>
                  <a:cubicBezTo>
                    <a:pt x="965591" y="23824"/>
                    <a:pt x="970815" y="36437"/>
                    <a:pt x="970815" y="49588"/>
                  </a:cubicBezTo>
                  <a:lnTo>
                    <a:pt x="970815" y="1200138"/>
                  </a:lnTo>
                  <a:cubicBezTo>
                    <a:pt x="970815" y="1213289"/>
                    <a:pt x="965591" y="1225902"/>
                    <a:pt x="956291" y="1235202"/>
                  </a:cubicBezTo>
                  <a:cubicBezTo>
                    <a:pt x="946991" y="1244501"/>
                    <a:pt x="934379" y="1249726"/>
                    <a:pt x="921227" y="1249726"/>
                  </a:cubicBezTo>
                  <a:lnTo>
                    <a:pt x="49588" y="1249726"/>
                  </a:lnTo>
                  <a:cubicBezTo>
                    <a:pt x="36437" y="1249726"/>
                    <a:pt x="23824" y="1244501"/>
                    <a:pt x="14524" y="1235202"/>
                  </a:cubicBezTo>
                  <a:cubicBezTo>
                    <a:pt x="5224" y="1225902"/>
                    <a:pt x="0" y="1213289"/>
                    <a:pt x="0" y="1200138"/>
                  </a:cubicBezTo>
                  <a:lnTo>
                    <a:pt x="0" y="49588"/>
                  </a:lnTo>
                  <a:cubicBezTo>
                    <a:pt x="0" y="36437"/>
                    <a:pt x="5224" y="23824"/>
                    <a:pt x="14524" y="14524"/>
                  </a:cubicBezTo>
                  <a:cubicBezTo>
                    <a:pt x="23824" y="5224"/>
                    <a:pt x="36437" y="0"/>
                    <a:pt x="49588" y="0"/>
                  </a:cubicBezTo>
                  <a:close/>
                </a:path>
              </a:pathLst>
            </a:custGeom>
            <a:blipFill>
              <a:blip r:embed="rId9"/>
              <a:stretch>
                <a:fillRect l="-6218" t="0" r="-6218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649746" y="6157748"/>
            <a:ext cx="6315053" cy="3182849"/>
            <a:chOff x="0" y="0"/>
            <a:chExt cx="2479566" cy="124972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79566" cy="1249726"/>
            </a:xfrm>
            <a:custGeom>
              <a:avLst/>
              <a:gdLst/>
              <a:ahLst/>
              <a:cxnLst/>
              <a:rect r="r" b="b" t="t" l="l"/>
              <a:pathLst>
                <a:path h="1249726" w="2479566">
                  <a:moveTo>
                    <a:pt x="28197" y="0"/>
                  </a:moveTo>
                  <a:lnTo>
                    <a:pt x="2451369" y="0"/>
                  </a:lnTo>
                  <a:cubicBezTo>
                    <a:pt x="2466942" y="0"/>
                    <a:pt x="2479566" y="12624"/>
                    <a:pt x="2479566" y="28197"/>
                  </a:cubicBezTo>
                  <a:lnTo>
                    <a:pt x="2479566" y="1221529"/>
                  </a:lnTo>
                  <a:cubicBezTo>
                    <a:pt x="2479566" y="1229007"/>
                    <a:pt x="2476595" y="1236179"/>
                    <a:pt x="2471307" y="1241467"/>
                  </a:cubicBezTo>
                  <a:cubicBezTo>
                    <a:pt x="2466019" y="1246755"/>
                    <a:pt x="2458847" y="1249726"/>
                    <a:pt x="2451369" y="1249726"/>
                  </a:cubicBezTo>
                  <a:lnTo>
                    <a:pt x="28197" y="1249726"/>
                  </a:lnTo>
                  <a:cubicBezTo>
                    <a:pt x="12624" y="1249726"/>
                    <a:pt x="0" y="1237102"/>
                    <a:pt x="0" y="1221529"/>
                  </a:cubicBezTo>
                  <a:lnTo>
                    <a:pt x="0" y="28197"/>
                  </a:lnTo>
                  <a:cubicBezTo>
                    <a:pt x="0" y="12624"/>
                    <a:pt x="12624" y="0"/>
                    <a:pt x="28197" y="0"/>
                  </a:cubicBezTo>
                  <a:close/>
                </a:path>
              </a:pathLst>
            </a:custGeom>
            <a:blipFill>
              <a:blip r:embed="rId10"/>
              <a:stretch>
                <a:fillRect l="-275" t="0" r="-275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484664" y="7682498"/>
            <a:ext cx="4204698" cy="54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b="true" sz="3223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Physician </a:t>
            </a:r>
            <a:r>
              <a:rPr lang="en-US" b="true" sz="3223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85016" y="1603565"/>
            <a:ext cx="8356094" cy="3982809"/>
            <a:chOff x="0" y="0"/>
            <a:chExt cx="2621975" cy="12497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21975" cy="1249726"/>
            </a:xfrm>
            <a:custGeom>
              <a:avLst/>
              <a:gdLst/>
              <a:ahLst/>
              <a:cxnLst/>
              <a:rect r="r" b="b" t="t" l="l"/>
              <a:pathLst>
                <a:path h="1249726" w="2621975">
                  <a:moveTo>
                    <a:pt x="21309" y="0"/>
                  </a:moveTo>
                  <a:lnTo>
                    <a:pt x="2600666" y="0"/>
                  </a:lnTo>
                  <a:cubicBezTo>
                    <a:pt x="2612435" y="0"/>
                    <a:pt x="2621975" y="9541"/>
                    <a:pt x="2621975" y="21309"/>
                  </a:cubicBezTo>
                  <a:lnTo>
                    <a:pt x="2621975" y="1228416"/>
                  </a:lnTo>
                  <a:cubicBezTo>
                    <a:pt x="2621975" y="1234068"/>
                    <a:pt x="2619730" y="1239488"/>
                    <a:pt x="2615734" y="1243484"/>
                  </a:cubicBezTo>
                  <a:cubicBezTo>
                    <a:pt x="2611738" y="1247481"/>
                    <a:pt x="2606317" y="1249726"/>
                    <a:pt x="2600666" y="1249726"/>
                  </a:cubicBezTo>
                  <a:lnTo>
                    <a:pt x="21309" y="1249726"/>
                  </a:lnTo>
                  <a:cubicBezTo>
                    <a:pt x="9541" y="1249726"/>
                    <a:pt x="0" y="1240185"/>
                    <a:pt x="0" y="1228416"/>
                  </a:cubicBezTo>
                  <a:lnTo>
                    <a:pt x="0" y="21309"/>
                  </a:lnTo>
                  <a:cubicBezTo>
                    <a:pt x="0" y="9541"/>
                    <a:pt x="9541" y="0"/>
                    <a:pt x="2130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-700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2509" y="3402239"/>
            <a:ext cx="7902242" cy="3982809"/>
            <a:chOff x="0" y="0"/>
            <a:chExt cx="2479566" cy="12497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9566" cy="1249726"/>
            </a:xfrm>
            <a:custGeom>
              <a:avLst/>
              <a:gdLst/>
              <a:ahLst/>
              <a:cxnLst/>
              <a:rect r="r" b="b" t="t" l="l"/>
              <a:pathLst>
                <a:path h="1249726" w="2479566">
                  <a:moveTo>
                    <a:pt x="22533" y="0"/>
                  </a:moveTo>
                  <a:lnTo>
                    <a:pt x="2457033" y="0"/>
                  </a:lnTo>
                  <a:cubicBezTo>
                    <a:pt x="2469477" y="0"/>
                    <a:pt x="2479566" y="10089"/>
                    <a:pt x="2479566" y="22533"/>
                  </a:cubicBezTo>
                  <a:lnTo>
                    <a:pt x="2479566" y="1227192"/>
                  </a:lnTo>
                  <a:cubicBezTo>
                    <a:pt x="2479566" y="1233169"/>
                    <a:pt x="2477192" y="1238900"/>
                    <a:pt x="2472966" y="1243126"/>
                  </a:cubicBezTo>
                  <a:cubicBezTo>
                    <a:pt x="2468740" y="1247352"/>
                    <a:pt x="2463009" y="1249726"/>
                    <a:pt x="2457033" y="1249726"/>
                  </a:cubicBezTo>
                  <a:lnTo>
                    <a:pt x="22533" y="1249726"/>
                  </a:lnTo>
                  <a:cubicBezTo>
                    <a:pt x="10089" y="1249726"/>
                    <a:pt x="0" y="1239637"/>
                    <a:pt x="0" y="1227192"/>
                  </a:cubicBezTo>
                  <a:lnTo>
                    <a:pt x="0" y="22533"/>
                  </a:lnTo>
                  <a:cubicBezTo>
                    <a:pt x="0" y="10089"/>
                    <a:pt x="10089" y="0"/>
                    <a:pt x="22533" y="0"/>
                  </a:cubicBezTo>
                  <a:close/>
                </a:path>
              </a:pathLst>
            </a:custGeom>
            <a:blipFill>
              <a:blip r:embed="rId8"/>
              <a:stretch>
                <a:fillRect l="-2501" t="0" r="-2501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565318" y="535295"/>
            <a:ext cx="7157365" cy="72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true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Wireframe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87233" y="6237165"/>
            <a:ext cx="4551660" cy="54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b="true" sz="3223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Pharmacist Dashboard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28372" y="7977251"/>
            <a:ext cx="3730517" cy="54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b="true" sz="3223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Patient </a:t>
            </a:r>
            <a:r>
              <a:rPr lang="en-US" b="true" sz="3223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85016" y="1603565"/>
            <a:ext cx="8356094" cy="3982809"/>
            <a:chOff x="0" y="0"/>
            <a:chExt cx="2621975" cy="12497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21975" cy="1249726"/>
            </a:xfrm>
            <a:custGeom>
              <a:avLst/>
              <a:gdLst/>
              <a:ahLst/>
              <a:cxnLst/>
              <a:rect r="r" b="b" t="t" l="l"/>
              <a:pathLst>
                <a:path h="1249726" w="2621975">
                  <a:moveTo>
                    <a:pt x="21309" y="0"/>
                  </a:moveTo>
                  <a:lnTo>
                    <a:pt x="2600666" y="0"/>
                  </a:lnTo>
                  <a:cubicBezTo>
                    <a:pt x="2612435" y="0"/>
                    <a:pt x="2621975" y="9541"/>
                    <a:pt x="2621975" y="21309"/>
                  </a:cubicBezTo>
                  <a:lnTo>
                    <a:pt x="2621975" y="1228416"/>
                  </a:lnTo>
                  <a:cubicBezTo>
                    <a:pt x="2621975" y="1234068"/>
                    <a:pt x="2619730" y="1239488"/>
                    <a:pt x="2615734" y="1243484"/>
                  </a:cubicBezTo>
                  <a:cubicBezTo>
                    <a:pt x="2611738" y="1247481"/>
                    <a:pt x="2606317" y="1249726"/>
                    <a:pt x="2600666" y="1249726"/>
                  </a:cubicBezTo>
                  <a:lnTo>
                    <a:pt x="21309" y="1249726"/>
                  </a:lnTo>
                  <a:cubicBezTo>
                    <a:pt x="9541" y="1249726"/>
                    <a:pt x="0" y="1240185"/>
                    <a:pt x="0" y="1228416"/>
                  </a:cubicBezTo>
                  <a:lnTo>
                    <a:pt x="0" y="21309"/>
                  </a:lnTo>
                  <a:cubicBezTo>
                    <a:pt x="0" y="9541"/>
                    <a:pt x="9541" y="0"/>
                    <a:pt x="2130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500" r="0" b="-350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2509" y="3402239"/>
            <a:ext cx="7902242" cy="3982809"/>
            <a:chOff x="0" y="0"/>
            <a:chExt cx="2479566" cy="12497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9566" cy="1249726"/>
            </a:xfrm>
            <a:custGeom>
              <a:avLst/>
              <a:gdLst/>
              <a:ahLst/>
              <a:cxnLst/>
              <a:rect r="r" b="b" t="t" l="l"/>
              <a:pathLst>
                <a:path h="1249726" w="2479566">
                  <a:moveTo>
                    <a:pt x="22533" y="0"/>
                  </a:moveTo>
                  <a:lnTo>
                    <a:pt x="2457033" y="0"/>
                  </a:lnTo>
                  <a:cubicBezTo>
                    <a:pt x="2469477" y="0"/>
                    <a:pt x="2479566" y="10089"/>
                    <a:pt x="2479566" y="22533"/>
                  </a:cubicBezTo>
                  <a:lnTo>
                    <a:pt x="2479566" y="1227192"/>
                  </a:lnTo>
                  <a:cubicBezTo>
                    <a:pt x="2479566" y="1233169"/>
                    <a:pt x="2477192" y="1238900"/>
                    <a:pt x="2472966" y="1243126"/>
                  </a:cubicBezTo>
                  <a:cubicBezTo>
                    <a:pt x="2468740" y="1247352"/>
                    <a:pt x="2463009" y="1249726"/>
                    <a:pt x="2457033" y="1249726"/>
                  </a:cubicBezTo>
                  <a:lnTo>
                    <a:pt x="22533" y="1249726"/>
                  </a:lnTo>
                  <a:cubicBezTo>
                    <a:pt x="10089" y="1249726"/>
                    <a:pt x="0" y="1239637"/>
                    <a:pt x="0" y="1227192"/>
                  </a:cubicBezTo>
                  <a:lnTo>
                    <a:pt x="0" y="22533"/>
                  </a:lnTo>
                  <a:cubicBezTo>
                    <a:pt x="0" y="10089"/>
                    <a:pt x="10089" y="0"/>
                    <a:pt x="22533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594" r="0" b="-594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468833" y="6237165"/>
            <a:ext cx="4588459" cy="54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b="true" sz="3223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Hospit</a:t>
            </a:r>
            <a:r>
              <a:rPr lang="en-US" b="true" sz="3223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 Administrator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13136" y="7977251"/>
            <a:ext cx="4160990" cy="54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b="true" sz="3223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Supe</a:t>
            </a:r>
            <a:r>
              <a:rPr lang="en-US" b="true" sz="3223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 Admin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65318" y="535295"/>
            <a:ext cx="7157365" cy="72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true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Wireframe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7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236700" y="1603565"/>
            <a:ext cx="13751789" cy="7463870"/>
          </a:xfrm>
          <a:custGeom>
            <a:avLst/>
            <a:gdLst/>
            <a:ahLst/>
            <a:cxnLst/>
            <a:rect r="r" b="b" t="t" l="l"/>
            <a:pathLst>
              <a:path h="7463870" w="13751789">
                <a:moveTo>
                  <a:pt x="0" y="0"/>
                </a:moveTo>
                <a:lnTo>
                  <a:pt x="13751789" y="0"/>
                </a:lnTo>
                <a:lnTo>
                  <a:pt x="13751789" y="7463870"/>
                </a:lnTo>
                <a:lnTo>
                  <a:pt x="0" y="7463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196" t="-4266" r="-2866" b="-5442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565318" y="535295"/>
            <a:ext cx="7157365" cy="72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true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Dashboard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8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00224" y="1531246"/>
            <a:ext cx="13164430" cy="7266672"/>
            <a:chOff x="0" y="0"/>
            <a:chExt cx="2793540" cy="15420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93540" cy="1542014"/>
            </a:xfrm>
            <a:custGeom>
              <a:avLst/>
              <a:gdLst/>
              <a:ahLst/>
              <a:cxnLst/>
              <a:rect r="r" b="b" t="t" l="l"/>
              <a:pathLst>
                <a:path h="1542014" w="2793540">
                  <a:moveTo>
                    <a:pt x="39990" y="0"/>
                  </a:moveTo>
                  <a:lnTo>
                    <a:pt x="2753549" y="0"/>
                  </a:lnTo>
                  <a:cubicBezTo>
                    <a:pt x="2764155" y="0"/>
                    <a:pt x="2774327" y="4213"/>
                    <a:pt x="2781827" y="11713"/>
                  </a:cubicBezTo>
                  <a:cubicBezTo>
                    <a:pt x="2789326" y="19213"/>
                    <a:pt x="2793540" y="29384"/>
                    <a:pt x="2793540" y="39990"/>
                  </a:cubicBezTo>
                  <a:lnTo>
                    <a:pt x="2793540" y="1502024"/>
                  </a:lnTo>
                  <a:cubicBezTo>
                    <a:pt x="2793540" y="1524110"/>
                    <a:pt x="2775635" y="1542014"/>
                    <a:pt x="2753549" y="1542014"/>
                  </a:cubicBezTo>
                  <a:lnTo>
                    <a:pt x="39990" y="1542014"/>
                  </a:lnTo>
                  <a:cubicBezTo>
                    <a:pt x="29384" y="1542014"/>
                    <a:pt x="19213" y="1537801"/>
                    <a:pt x="11713" y="1530301"/>
                  </a:cubicBezTo>
                  <a:cubicBezTo>
                    <a:pt x="4213" y="1522801"/>
                    <a:pt x="0" y="1512630"/>
                    <a:pt x="0" y="1502024"/>
                  </a:cubicBezTo>
                  <a:lnTo>
                    <a:pt x="0" y="39990"/>
                  </a:lnTo>
                  <a:cubicBezTo>
                    <a:pt x="0" y="17904"/>
                    <a:pt x="17904" y="0"/>
                    <a:pt x="39990" y="0"/>
                  </a:cubicBezTo>
                  <a:close/>
                </a:path>
              </a:pathLst>
            </a:custGeom>
            <a:blipFill>
              <a:blip r:embed="rId7"/>
              <a:stretch>
                <a:fillRect l="-2475" t="-4698" r="-3182" b="-314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565318" y="535295"/>
            <a:ext cx="7157365" cy="72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true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Dashboard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065514" y="2073376"/>
            <a:ext cx="8442817" cy="3219708"/>
            <a:chOff x="0" y="0"/>
            <a:chExt cx="11257089" cy="429294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3064438" y="0"/>
              <a:ext cx="7130986" cy="4292943"/>
              <a:chOff x="0" y="0"/>
              <a:chExt cx="1408590" cy="84798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08590" cy="847989"/>
              </a:xfrm>
              <a:custGeom>
                <a:avLst/>
                <a:gdLst/>
                <a:ahLst/>
                <a:cxnLst/>
                <a:rect r="r" b="b" t="t" l="l"/>
                <a:pathLst>
                  <a:path h="847989" w="1408590">
                    <a:moveTo>
                      <a:pt x="31846" y="0"/>
                    </a:moveTo>
                    <a:lnTo>
                      <a:pt x="1376743" y="0"/>
                    </a:lnTo>
                    <a:cubicBezTo>
                      <a:pt x="1385190" y="0"/>
                      <a:pt x="1393290" y="3355"/>
                      <a:pt x="1399262" y="9328"/>
                    </a:cubicBezTo>
                    <a:cubicBezTo>
                      <a:pt x="1405235" y="15300"/>
                      <a:pt x="1408590" y="23400"/>
                      <a:pt x="1408590" y="31846"/>
                    </a:cubicBezTo>
                    <a:lnTo>
                      <a:pt x="1408590" y="816142"/>
                    </a:lnTo>
                    <a:cubicBezTo>
                      <a:pt x="1408590" y="824589"/>
                      <a:pt x="1405235" y="832689"/>
                      <a:pt x="1399262" y="838661"/>
                    </a:cubicBezTo>
                    <a:cubicBezTo>
                      <a:pt x="1393290" y="844634"/>
                      <a:pt x="1385190" y="847989"/>
                      <a:pt x="1376743" y="847989"/>
                    </a:cubicBezTo>
                    <a:lnTo>
                      <a:pt x="31846" y="847989"/>
                    </a:lnTo>
                    <a:cubicBezTo>
                      <a:pt x="23400" y="847989"/>
                      <a:pt x="15300" y="844634"/>
                      <a:pt x="9328" y="838661"/>
                    </a:cubicBezTo>
                    <a:cubicBezTo>
                      <a:pt x="3355" y="832689"/>
                      <a:pt x="0" y="824589"/>
                      <a:pt x="0" y="816142"/>
                    </a:cubicBezTo>
                    <a:lnTo>
                      <a:pt x="0" y="31846"/>
                    </a:lnTo>
                    <a:cubicBezTo>
                      <a:pt x="0" y="23400"/>
                      <a:pt x="3355" y="15300"/>
                      <a:pt x="9328" y="9328"/>
                    </a:cubicBezTo>
                    <a:cubicBezTo>
                      <a:pt x="15300" y="3355"/>
                      <a:pt x="23400" y="0"/>
                      <a:pt x="31846" y="0"/>
                    </a:cubicBez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08590" cy="8860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9024337" y="257898"/>
              <a:ext cx="971136" cy="1137495"/>
            </a:xfrm>
            <a:custGeom>
              <a:avLst/>
              <a:gdLst/>
              <a:ahLst/>
              <a:cxnLst/>
              <a:rect r="r" b="b" t="t" l="l"/>
              <a:pathLst>
                <a:path h="1137495" w="971136">
                  <a:moveTo>
                    <a:pt x="0" y="0"/>
                  </a:moveTo>
                  <a:lnTo>
                    <a:pt x="971137" y="0"/>
                  </a:lnTo>
                  <a:lnTo>
                    <a:pt x="971137" y="1137495"/>
                  </a:lnTo>
                  <a:lnTo>
                    <a:pt x="0" y="1137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3853338" y="1452598"/>
              <a:ext cx="7403752" cy="1830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5900" indent="-212950" lvl="1">
                <a:lnSpc>
                  <a:spcPts val="3846"/>
                </a:lnSpc>
                <a:buFont typeface="Arial"/>
                <a:buChar char="•"/>
              </a:pP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Patient EHR</a:t>
              </a:r>
            </a:p>
            <a:p>
              <a:pPr algn="l" marL="425900" indent="-212950" lvl="1">
                <a:lnSpc>
                  <a:spcPts val="3846"/>
                </a:lnSpc>
                <a:buFont typeface="Arial"/>
                <a:buChar char="•"/>
              </a:pP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Prescription creation</a:t>
              </a:r>
            </a:p>
            <a:p>
              <a:pPr algn="l" marL="425900" indent="-212950" lvl="1">
                <a:lnSpc>
                  <a:spcPts val="3846"/>
                </a:lnSpc>
                <a:buFont typeface="Arial"/>
                <a:buChar char="•"/>
              </a:pP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Risk analysis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440729"/>
              <a:ext cx="9995474" cy="70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3"/>
                </a:lnSpc>
                <a:spcBef>
                  <a:spcPct val="0"/>
                </a:spcBef>
              </a:pPr>
              <a:r>
                <a:rPr lang="en-US" b="true" sz="322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Physicians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38839" y="2073376"/>
            <a:ext cx="8442817" cy="3219708"/>
            <a:chOff x="0" y="0"/>
            <a:chExt cx="11257089" cy="4292943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3064438" y="0"/>
              <a:ext cx="7130986" cy="4292943"/>
              <a:chOff x="0" y="0"/>
              <a:chExt cx="1408590" cy="84798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08590" cy="847989"/>
              </a:xfrm>
              <a:custGeom>
                <a:avLst/>
                <a:gdLst/>
                <a:ahLst/>
                <a:cxnLst/>
                <a:rect r="r" b="b" t="t" l="l"/>
                <a:pathLst>
                  <a:path h="847989" w="1408590">
                    <a:moveTo>
                      <a:pt x="31846" y="0"/>
                    </a:moveTo>
                    <a:lnTo>
                      <a:pt x="1376743" y="0"/>
                    </a:lnTo>
                    <a:cubicBezTo>
                      <a:pt x="1385190" y="0"/>
                      <a:pt x="1393290" y="3355"/>
                      <a:pt x="1399262" y="9328"/>
                    </a:cubicBezTo>
                    <a:cubicBezTo>
                      <a:pt x="1405235" y="15300"/>
                      <a:pt x="1408590" y="23400"/>
                      <a:pt x="1408590" y="31846"/>
                    </a:cubicBezTo>
                    <a:lnTo>
                      <a:pt x="1408590" y="816142"/>
                    </a:lnTo>
                    <a:cubicBezTo>
                      <a:pt x="1408590" y="824589"/>
                      <a:pt x="1405235" y="832689"/>
                      <a:pt x="1399262" y="838661"/>
                    </a:cubicBezTo>
                    <a:cubicBezTo>
                      <a:pt x="1393290" y="844634"/>
                      <a:pt x="1385190" y="847989"/>
                      <a:pt x="1376743" y="847989"/>
                    </a:cubicBezTo>
                    <a:lnTo>
                      <a:pt x="31846" y="847989"/>
                    </a:lnTo>
                    <a:cubicBezTo>
                      <a:pt x="23400" y="847989"/>
                      <a:pt x="15300" y="844634"/>
                      <a:pt x="9328" y="838661"/>
                    </a:cubicBezTo>
                    <a:cubicBezTo>
                      <a:pt x="3355" y="832689"/>
                      <a:pt x="0" y="824589"/>
                      <a:pt x="0" y="816142"/>
                    </a:cubicBezTo>
                    <a:lnTo>
                      <a:pt x="0" y="31846"/>
                    </a:lnTo>
                    <a:cubicBezTo>
                      <a:pt x="0" y="23400"/>
                      <a:pt x="3355" y="15300"/>
                      <a:pt x="9328" y="9328"/>
                    </a:cubicBezTo>
                    <a:cubicBezTo>
                      <a:pt x="15300" y="3355"/>
                      <a:pt x="23400" y="0"/>
                      <a:pt x="31846" y="0"/>
                    </a:cubicBez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408590" cy="8860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853338" y="1452598"/>
              <a:ext cx="7403752" cy="2476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5900" indent="-212950" lvl="1">
                <a:lnSpc>
                  <a:spcPts val="3846"/>
                </a:lnSpc>
                <a:buFont typeface="Arial"/>
                <a:buChar char="•"/>
              </a:pP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Prescription scanner</a:t>
              </a:r>
            </a:p>
            <a:p>
              <a:pPr algn="l" marL="425900" indent="-212950" lvl="1">
                <a:lnSpc>
                  <a:spcPts val="3846"/>
                </a:lnSpc>
                <a:buFont typeface="Arial"/>
                <a:buChar char="•"/>
              </a:pP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Drug interaction checker</a:t>
              </a:r>
            </a:p>
            <a:p>
              <a:pPr algn="l" marL="425900" indent="-212950" lvl="1">
                <a:lnSpc>
                  <a:spcPts val="3846"/>
                </a:lnSpc>
                <a:buFont typeface="Arial"/>
                <a:buChar char="•"/>
              </a:pP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Safety alerts</a:t>
              </a:r>
            </a:p>
            <a:p>
              <a:pPr algn="l">
                <a:lnSpc>
                  <a:spcPts val="3846"/>
                </a:lnSpc>
              </a:pP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440729"/>
              <a:ext cx="9995474" cy="70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3"/>
                </a:lnSpc>
                <a:spcBef>
                  <a:spcPct val="0"/>
                </a:spcBef>
              </a:pPr>
              <a:r>
                <a:rPr lang="en-US" b="true" sz="322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Pharmacists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8836536" y="182947"/>
              <a:ext cx="1221187" cy="1128072"/>
            </a:xfrm>
            <a:custGeom>
              <a:avLst/>
              <a:gdLst/>
              <a:ahLst/>
              <a:cxnLst/>
              <a:rect r="r" b="b" t="t" l="l"/>
              <a:pathLst>
                <a:path h="1128072" w="1221187">
                  <a:moveTo>
                    <a:pt x="0" y="0"/>
                  </a:moveTo>
                  <a:lnTo>
                    <a:pt x="1221187" y="0"/>
                  </a:lnTo>
                  <a:lnTo>
                    <a:pt x="1221187" y="1128071"/>
                  </a:lnTo>
                  <a:lnTo>
                    <a:pt x="0" y="1128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-1065514" y="5851394"/>
            <a:ext cx="8442817" cy="3219708"/>
            <a:chOff x="0" y="0"/>
            <a:chExt cx="11257089" cy="4292943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3064438" y="0"/>
              <a:ext cx="7130986" cy="4292943"/>
              <a:chOff x="0" y="0"/>
              <a:chExt cx="1408590" cy="847989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408590" cy="847989"/>
              </a:xfrm>
              <a:custGeom>
                <a:avLst/>
                <a:gdLst/>
                <a:ahLst/>
                <a:cxnLst/>
                <a:rect r="r" b="b" t="t" l="l"/>
                <a:pathLst>
                  <a:path h="847989" w="1408590">
                    <a:moveTo>
                      <a:pt x="31846" y="0"/>
                    </a:moveTo>
                    <a:lnTo>
                      <a:pt x="1376743" y="0"/>
                    </a:lnTo>
                    <a:cubicBezTo>
                      <a:pt x="1385190" y="0"/>
                      <a:pt x="1393290" y="3355"/>
                      <a:pt x="1399262" y="9328"/>
                    </a:cubicBezTo>
                    <a:cubicBezTo>
                      <a:pt x="1405235" y="15300"/>
                      <a:pt x="1408590" y="23400"/>
                      <a:pt x="1408590" y="31846"/>
                    </a:cubicBezTo>
                    <a:lnTo>
                      <a:pt x="1408590" y="816142"/>
                    </a:lnTo>
                    <a:cubicBezTo>
                      <a:pt x="1408590" y="824589"/>
                      <a:pt x="1405235" y="832689"/>
                      <a:pt x="1399262" y="838661"/>
                    </a:cubicBezTo>
                    <a:cubicBezTo>
                      <a:pt x="1393290" y="844634"/>
                      <a:pt x="1385190" y="847989"/>
                      <a:pt x="1376743" y="847989"/>
                    </a:cubicBezTo>
                    <a:lnTo>
                      <a:pt x="31846" y="847989"/>
                    </a:lnTo>
                    <a:cubicBezTo>
                      <a:pt x="23400" y="847989"/>
                      <a:pt x="15300" y="844634"/>
                      <a:pt x="9328" y="838661"/>
                    </a:cubicBezTo>
                    <a:cubicBezTo>
                      <a:pt x="3355" y="832689"/>
                      <a:pt x="0" y="824589"/>
                      <a:pt x="0" y="816142"/>
                    </a:cubicBezTo>
                    <a:lnTo>
                      <a:pt x="0" y="31846"/>
                    </a:lnTo>
                    <a:cubicBezTo>
                      <a:pt x="0" y="23400"/>
                      <a:pt x="3355" y="15300"/>
                      <a:pt x="9328" y="9328"/>
                    </a:cubicBezTo>
                    <a:cubicBezTo>
                      <a:pt x="15300" y="3355"/>
                      <a:pt x="23400" y="0"/>
                      <a:pt x="31846" y="0"/>
                    </a:cubicBez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408590" cy="8860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853338" y="1452598"/>
              <a:ext cx="7403752" cy="1830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5900" indent="-212950" lvl="1">
                <a:lnSpc>
                  <a:spcPts val="3846"/>
                </a:lnSpc>
                <a:buFont typeface="Arial"/>
                <a:buChar char="•"/>
              </a:pP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</a:t>
              </a: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edication tracking</a:t>
              </a:r>
            </a:p>
            <a:p>
              <a:pPr algn="l" marL="425900" indent="-212950" lvl="1">
                <a:lnSpc>
                  <a:spcPts val="3846"/>
                </a:lnSpc>
                <a:buFont typeface="Arial"/>
                <a:buChar char="•"/>
              </a:pP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 assistant</a:t>
              </a:r>
            </a:p>
            <a:p>
              <a:pPr algn="l" marL="425900" indent="-212950" lvl="1">
                <a:lnSpc>
                  <a:spcPts val="3846"/>
                </a:lnSpc>
                <a:buFont typeface="Arial"/>
                <a:buChar char="•"/>
              </a:pP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Health insights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440729"/>
              <a:ext cx="9995474" cy="70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3"/>
                </a:lnSpc>
                <a:spcBef>
                  <a:spcPct val="0"/>
                </a:spcBef>
              </a:pPr>
              <a:r>
                <a:rPr lang="en-US" b="true" sz="322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Patients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5698175" y="6064608"/>
            <a:ext cx="731702" cy="845898"/>
          </a:xfrm>
          <a:custGeom>
            <a:avLst/>
            <a:gdLst/>
            <a:ahLst/>
            <a:cxnLst/>
            <a:rect r="r" b="b" t="t" l="l"/>
            <a:pathLst>
              <a:path h="845898" w="731702">
                <a:moveTo>
                  <a:pt x="0" y="0"/>
                </a:moveTo>
                <a:lnTo>
                  <a:pt x="731702" y="0"/>
                </a:lnTo>
                <a:lnTo>
                  <a:pt x="731702" y="845898"/>
                </a:lnTo>
                <a:lnTo>
                  <a:pt x="0" y="8458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9338839" y="6064608"/>
            <a:ext cx="8442817" cy="3219708"/>
            <a:chOff x="0" y="0"/>
            <a:chExt cx="11257089" cy="4292943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3064438" y="0"/>
              <a:ext cx="7130986" cy="4292943"/>
              <a:chOff x="0" y="0"/>
              <a:chExt cx="1408590" cy="84798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408590" cy="847989"/>
              </a:xfrm>
              <a:custGeom>
                <a:avLst/>
                <a:gdLst/>
                <a:ahLst/>
                <a:cxnLst/>
                <a:rect r="r" b="b" t="t" l="l"/>
                <a:pathLst>
                  <a:path h="847989" w="1408590">
                    <a:moveTo>
                      <a:pt x="31846" y="0"/>
                    </a:moveTo>
                    <a:lnTo>
                      <a:pt x="1376743" y="0"/>
                    </a:lnTo>
                    <a:cubicBezTo>
                      <a:pt x="1385190" y="0"/>
                      <a:pt x="1393290" y="3355"/>
                      <a:pt x="1399262" y="9328"/>
                    </a:cubicBezTo>
                    <a:cubicBezTo>
                      <a:pt x="1405235" y="15300"/>
                      <a:pt x="1408590" y="23400"/>
                      <a:pt x="1408590" y="31846"/>
                    </a:cubicBezTo>
                    <a:lnTo>
                      <a:pt x="1408590" y="816142"/>
                    </a:lnTo>
                    <a:cubicBezTo>
                      <a:pt x="1408590" y="824589"/>
                      <a:pt x="1405235" y="832689"/>
                      <a:pt x="1399262" y="838661"/>
                    </a:cubicBezTo>
                    <a:cubicBezTo>
                      <a:pt x="1393290" y="844634"/>
                      <a:pt x="1385190" y="847989"/>
                      <a:pt x="1376743" y="847989"/>
                    </a:cubicBezTo>
                    <a:lnTo>
                      <a:pt x="31846" y="847989"/>
                    </a:lnTo>
                    <a:cubicBezTo>
                      <a:pt x="23400" y="847989"/>
                      <a:pt x="15300" y="844634"/>
                      <a:pt x="9328" y="838661"/>
                    </a:cubicBezTo>
                    <a:cubicBezTo>
                      <a:pt x="3355" y="832689"/>
                      <a:pt x="0" y="824589"/>
                      <a:pt x="0" y="816142"/>
                    </a:cubicBezTo>
                    <a:lnTo>
                      <a:pt x="0" y="31846"/>
                    </a:lnTo>
                    <a:cubicBezTo>
                      <a:pt x="0" y="23400"/>
                      <a:pt x="3355" y="15300"/>
                      <a:pt x="9328" y="9328"/>
                    </a:cubicBezTo>
                    <a:cubicBezTo>
                      <a:pt x="15300" y="3355"/>
                      <a:pt x="23400" y="0"/>
                      <a:pt x="31846" y="0"/>
                    </a:cubicBez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408590" cy="8860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853338" y="1452598"/>
              <a:ext cx="7403752" cy="1184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5900" indent="-212950" lvl="1">
                <a:lnSpc>
                  <a:spcPts val="3846"/>
                </a:lnSpc>
                <a:buFont typeface="Arial"/>
                <a:buChar char="•"/>
              </a:pP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Analy</a:t>
              </a: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tics</a:t>
              </a:r>
            </a:p>
            <a:p>
              <a:pPr algn="l" marL="425900" indent="-212950" lvl="1">
                <a:lnSpc>
                  <a:spcPts val="3846"/>
                </a:lnSpc>
                <a:buFont typeface="Arial"/>
                <a:buChar char="•"/>
              </a:pPr>
              <a:r>
                <a:rPr lang="en-US" b="true" sz="19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 management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440729"/>
              <a:ext cx="9995474" cy="705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3"/>
                </a:lnSpc>
                <a:spcBef>
                  <a:spcPct val="0"/>
                </a:spcBef>
              </a:pPr>
              <a:r>
                <a:rPr lang="en-US" b="true" sz="322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Ad</a:t>
              </a:r>
              <a:r>
                <a:rPr lang="en-US" b="true" sz="322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min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6189237" y="6326524"/>
            <a:ext cx="737463" cy="784535"/>
          </a:xfrm>
          <a:custGeom>
            <a:avLst/>
            <a:gdLst/>
            <a:ahLst/>
            <a:cxnLst/>
            <a:rect r="r" b="b" t="t" l="l"/>
            <a:pathLst>
              <a:path h="784535" w="737463">
                <a:moveTo>
                  <a:pt x="0" y="0"/>
                </a:moveTo>
                <a:lnTo>
                  <a:pt x="737462" y="0"/>
                </a:lnTo>
                <a:lnTo>
                  <a:pt x="737462" y="784535"/>
                </a:lnTo>
                <a:lnTo>
                  <a:pt x="0" y="78453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5565318" y="582920"/>
            <a:ext cx="7157365" cy="72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b="true" sz="4248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15" tooltip="https://canva.link/9j74jyak29oh6tw"/>
              </a:rPr>
              <a:t>End Users + Features</a:t>
            </a:r>
          </a:p>
        </p:txBody>
      </p:sp>
      <p:sp>
        <p:nvSpPr>
          <p:cNvPr name="Freeform 46" id="46"/>
          <p:cNvSpPr/>
          <p:nvPr/>
        </p:nvSpPr>
        <p:spPr>
          <a:xfrm flipH="true" flipV="false" rot="-1158893">
            <a:off x="10131755" y="6595606"/>
            <a:ext cx="970033" cy="1861064"/>
          </a:xfrm>
          <a:custGeom>
            <a:avLst/>
            <a:gdLst/>
            <a:ahLst/>
            <a:cxnLst/>
            <a:rect r="r" b="b" t="t" l="l"/>
            <a:pathLst>
              <a:path h="1861064" w="970033">
                <a:moveTo>
                  <a:pt x="970033" y="0"/>
                </a:moveTo>
                <a:lnTo>
                  <a:pt x="0" y="0"/>
                </a:lnTo>
                <a:lnTo>
                  <a:pt x="0" y="1861064"/>
                </a:lnTo>
                <a:lnTo>
                  <a:pt x="970033" y="1861064"/>
                </a:lnTo>
                <a:lnTo>
                  <a:pt x="970033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63813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true" rot="-1746861">
            <a:off x="7432508" y="3164021"/>
            <a:ext cx="970033" cy="1861064"/>
          </a:xfrm>
          <a:custGeom>
            <a:avLst/>
            <a:gdLst/>
            <a:ahLst/>
            <a:cxnLst/>
            <a:rect r="r" b="b" t="t" l="l"/>
            <a:pathLst>
              <a:path h="1861064" w="970033">
                <a:moveTo>
                  <a:pt x="0" y="1861064"/>
                </a:moveTo>
                <a:lnTo>
                  <a:pt x="970033" y="1861064"/>
                </a:lnTo>
                <a:lnTo>
                  <a:pt x="970033" y="0"/>
                </a:lnTo>
                <a:lnTo>
                  <a:pt x="0" y="0"/>
                </a:lnTo>
                <a:lnTo>
                  <a:pt x="0" y="1861064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63813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true" rot="1393598">
            <a:off x="10178935" y="3161465"/>
            <a:ext cx="970033" cy="1861064"/>
          </a:xfrm>
          <a:custGeom>
            <a:avLst/>
            <a:gdLst/>
            <a:ahLst/>
            <a:cxnLst/>
            <a:rect r="r" b="b" t="t" l="l"/>
            <a:pathLst>
              <a:path h="1861064" w="970033">
                <a:moveTo>
                  <a:pt x="970033" y="1861064"/>
                </a:moveTo>
                <a:lnTo>
                  <a:pt x="0" y="1861064"/>
                </a:lnTo>
                <a:lnTo>
                  <a:pt x="0" y="0"/>
                </a:lnTo>
                <a:lnTo>
                  <a:pt x="970033" y="0"/>
                </a:lnTo>
                <a:lnTo>
                  <a:pt x="970033" y="1861064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63813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986561">
            <a:off x="7655557" y="6562926"/>
            <a:ext cx="970033" cy="1861064"/>
          </a:xfrm>
          <a:custGeom>
            <a:avLst/>
            <a:gdLst/>
            <a:ahLst/>
            <a:cxnLst/>
            <a:rect r="r" b="b" t="t" l="l"/>
            <a:pathLst>
              <a:path h="1861064" w="970033">
                <a:moveTo>
                  <a:pt x="0" y="0"/>
                </a:moveTo>
                <a:lnTo>
                  <a:pt x="970034" y="0"/>
                </a:lnTo>
                <a:lnTo>
                  <a:pt x="970034" y="1861064"/>
                </a:lnTo>
                <a:lnTo>
                  <a:pt x="0" y="186106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63813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8150099" y="5342613"/>
            <a:ext cx="2269093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D8B1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832229" y="1948647"/>
            <a:ext cx="1959954" cy="1881556"/>
          </a:xfrm>
          <a:custGeom>
            <a:avLst/>
            <a:gdLst/>
            <a:ahLst/>
            <a:cxnLst/>
            <a:rect r="r" b="b" t="t" l="l"/>
            <a:pathLst>
              <a:path h="1881556" w="1959954">
                <a:moveTo>
                  <a:pt x="0" y="0"/>
                </a:moveTo>
                <a:lnTo>
                  <a:pt x="1959954" y="0"/>
                </a:lnTo>
                <a:lnTo>
                  <a:pt x="1959954" y="1881556"/>
                </a:lnTo>
                <a:lnTo>
                  <a:pt x="0" y="18815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168988" y="1791198"/>
            <a:ext cx="2238424" cy="2196453"/>
          </a:xfrm>
          <a:custGeom>
            <a:avLst/>
            <a:gdLst/>
            <a:ahLst/>
            <a:cxnLst/>
            <a:rect r="r" b="b" t="t" l="l"/>
            <a:pathLst>
              <a:path h="2196453" w="2238424">
                <a:moveTo>
                  <a:pt x="0" y="0"/>
                </a:moveTo>
                <a:lnTo>
                  <a:pt x="2238424" y="0"/>
                </a:lnTo>
                <a:lnTo>
                  <a:pt x="2238424" y="2196454"/>
                </a:lnTo>
                <a:lnTo>
                  <a:pt x="0" y="219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583659" y="5446114"/>
            <a:ext cx="2457095" cy="2420239"/>
          </a:xfrm>
          <a:custGeom>
            <a:avLst/>
            <a:gdLst/>
            <a:ahLst/>
            <a:cxnLst/>
            <a:rect r="r" b="b" t="t" l="l"/>
            <a:pathLst>
              <a:path h="2420239" w="2457095">
                <a:moveTo>
                  <a:pt x="0" y="0"/>
                </a:moveTo>
                <a:lnTo>
                  <a:pt x="2457095" y="0"/>
                </a:lnTo>
                <a:lnTo>
                  <a:pt x="2457095" y="2420238"/>
                </a:lnTo>
                <a:lnTo>
                  <a:pt x="0" y="2420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197563" y="5575929"/>
            <a:ext cx="2393105" cy="2294390"/>
          </a:xfrm>
          <a:custGeom>
            <a:avLst/>
            <a:gdLst/>
            <a:ahLst/>
            <a:cxnLst/>
            <a:rect r="r" b="b" t="t" l="l"/>
            <a:pathLst>
              <a:path h="2294390" w="2393105">
                <a:moveTo>
                  <a:pt x="0" y="0"/>
                </a:moveTo>
                <a:lnTo>
                  <a:pt x="2393105" y="0"/>
                </a:lnTo>
                <a:lnTo>
                  <a:pt x="2393105" y="2294389"/>
                </a:lnTo>
                <a:lnTo>
                  <a:pt x="0" y="22943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872352" y="5446114"/>
            <a:ext cx="2318572" cy="2054834"/>
          </a:xfrm>
          <a:custGeom>
            <a:avLst/>
            <a:gdLst/>
            <a:ahLst/>
            <a:cxnLst/>
            <a:rect r="r" b="b" t="t" l="l"/>
            <a:pathLst>
              <a:path h="2054834" w="2318572">
                <a:moveTo>
                  <a:pt x="0" y="0"/>
                </a:moveTo>
                <a:lnTo>
                  <a:pt x="2318572" y="0"/>
                </a:lnTo>
                <a:lnTo>
                  <a:pt x="2318572" y="2054834"/>
                </a:lnTo>
                <a:lnTo>
                  <a:pt x="0" y="20548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565318" y="582920"/>
            <a:ext cx="7157365" cy="72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b="true" sz="4248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Core Features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50248" y="4039758"/>
            <a:ext cx="3723918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Polypharmacy Scanner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4085" y="4576606"/>
            <a:ext cx="668202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Checks dangerous drug combinations instantly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50552" y="3930502"/>
            <a:ext cx="2769513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Prescription OCR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79155" y="4467350"/>
            <a:ext cx="635138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Extra</a:t>
            </a:r>
            <a:r>
              <a:rPr lang="en-US" b="true" sz="22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cts medicines from prescription images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60485" y="8182681"/>
            <a:ext cx="3247430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</a:t>
            </a:r>
            <a:r>
              <a:rPr lang="en-US" b="true" sz="2599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raphRAG Assistant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7194" y="8719529"/>
            <a:ext cx="4753094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Sugges</a:t>
            </a:r>
            <a:r>
              <a:rPr lang="en-US" b="true" sz="22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 safer medication options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98693" y="7748204"/>
            <a:ext cx="302680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Alternatives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55091" y="8285053"/>
            <a:ext cx="4753094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Suggest saf</a:t>
            </a:r>
            <a:r>
              <a:rPr lang="en-US" b="true" sz="22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 medication options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41330" y="8182681"/>
            <a:ext cx="3895844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Visual Prescription Map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94654" y="8738579"/>
            <a:ext cx="497014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Intera</a:t>
            </a:r>
            <a:r>
              <a:rPr lang="en-US" b="true" sz="2299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ctive drug relationship graph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69665" y="1603565"/>
            <a:ext cx="14401984" cy="7487938"/>
          </a:xfrm>
          <a:custGeom>
            <a:avLst/>
            <a:gdLst/>
            <a:ahLst/>
            <a:cxnLst/>
            <a:rect r="r" b="b" t="t" l="l"/>
            <a:pathLst>
              <a:path h="7487938" w="14401984">
                <a:moveTo>
                  <a:pt x="0" y="0"/>
                </a:moveTo>
                <a:lnTo>
                  <a:pt x="14401984" y="0"/>
                </a:lnTo>
                <a:lnTo>
                  <a:pt x="14401984" y="7487938"/>
                </a:lnTo>
                <a:lnTo>
                  <a:pt x="0" y="7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26" t="-18046" r="-1031" b="-12647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808571" y="536358"/>
            <a:ext cx="8287477" cy="83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7"/>
              </a:lnSpc>
            </a:pPr>
            <a:r>
              <a:rPr lang="en-US" sz="4919" b="true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Pipleline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>
            <a:hlinkClick r:id="rId8" tooltip="https://drawsql.app/teams/database-280/diagrams/datadosefv"/>
          </p:cNvPr>
          <p:cNvSpPr/>
          <p:nvPr/>
        </p:nvSpPr>
        <p:spPr>
          <a:xfrm flipH="false" flipV="false" rot="0">
            <a:off x="5567956" y="-863146"/>
            <a:ext cx="5765259" cy="2764758"/>
          </a:xfrm>
          <a:custGeom>
            <a:avLst/>
            <a:gdLst/>
            <a:ahLst/>
            <a:cxnLst/>
            <a:rect r="r" b="b" t="t" l="l"/>
            <a:pathLst>
              <a:path h="2764758" w="5765259">
                <a:moveTo>
                  <a:pt x="0" y="0"/>
                </a:moveTo>
                <a:lnTo>
                  <a:pt x="5765258" y="0"/>
                </a:lnTo>
                <a:lnTo>
                  <a:pt x="5765258" y="2764757"/>
                </a:lnTo>
                <a:lnTo>
                  <a:pt x="0" y="27647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0648" r="0" b="-77877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627405" y="2057137"/>
            <a:ext cx="12391388" cy="7164776"/>
          </a:xfrm>
          <a:custGeom>
            <a:avLst/>
            <a:gdLst/>
            <a:ahLst/>
            <a:cxnLst/>
            <a:rect r="r" b="b" t="t" l="l"/>
            <a:pathLst>
              <a:path h="7164776" w="12391388">
                <a:moveTo>
                  <a:pt x="0" y="0"/>
                </a:moveTo>
                <a:lnTo>
                  <a:pt x="12391387" y="0"/>
                </a:lnTo>
                <a:lnTo>
                  <a:pt x="12391387" y="7164775"/>
                </a:lnTo>
                <a:lnTo>
                  <a:pt x="0" y="7164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16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45400" y="1924633"/>
            <a:ext cx="16084879" cy="7236561"/>
          </a:xfrm>
          <a:custGeom>
            <a:avLst/>
            <a:gdLst/>
            <a:ahLst/>
            <a:cxnLst/>
            <a:rect r="r" b="b" t="t" l="l"/>
            <a:pathLst>
              <a:path h="7236561" w="16084879">
                <a:moveTo>
                  <a:pt x="0" y="0"/>
                </a:moveTo>
                <a:lnTo>
                  <a:pt x="16084879" y="0"/>
                </a:lnTo>
                <a:lnTo>
                  <a:pt x="16084879" y="7236562"/>
                </a:lnTo>
                <a:lnTo>
                  <a:pt x="0" y="72365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0528" r="0" b="-27652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641518" y="582920"/>
            <a:ext cx="7157365" cy="72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true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</a:t>
            </a:r>
            <a:r>
              <a:rPr lang="en-US" b="true" sz="4248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Graph Intelligence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17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149432" y="2605357"/>
            <a:ext cx="3202249" cy="47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6"/>
              </a:lnSpc>
              <a:spcBef>
                <a:spcPct val="0"/>
              </a:spcBef>
            </a:pPr>
            <a:r>
              <a:rPr lang="en-US" b="true" sz="2826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2826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atabase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03643" y="2647913"/>
            <a:ext cx="517597" cy="383669"/>
          </a:xfrm>
          <a:custGeom>
            <a:avLst/>
            <a:gdLst/>
            <a:ahLst/>
            <a:cxnLst/>
            <a:rect r="r" b="b" t="t" l="l"/>
            <a:pathLst>
              <a:path h="383669" w="517597">
                <a:moveTo>
                  <a:pt x="0" y="0"/>
                </a:moveTo>
                <a:lnTo>
                  <a:pt x="517596" y="0"/>
                </a:lnTo>
                <a:lnTo>
                  <a:pt x="517596" y="383669"/>
                </a:lnTo>
                <a:lnTo>
                  <a:pt x="0" y="3836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03643" y="5742345"/>
            <a:ext cx="575219" cy="582500"/>
          </a:xfrm>
          <a:custGeom>
            <a:avLst/>
            <a:gdLst/>
            <a:ahLst/>
            <a:cxnLst/>
            <a:rect r="r" b="b" t="t" l="l"/>
            <a:pathLst>
              <a:path h="582500" w="575219">
                <a:moveTo>
                  <a:pt x="0" y="0"/>
                </a:moveTo>
                <a:lnTo>
                  <a:pt x="575218" y="0"/>
                </a:lnTo>
                <a:lnTo>
                  <a:pt x="575218" y="582500"/>
                </a:lnTo>
                <a:lnTo>
                  <a:pt x="0" y="58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341067" y="2674658"/>
            <a:ext cx="383272" cy="467404"/>
          </a:xfrm>
          <a:custGeom>
            <a:avLst/>
            <a:gdLst/>
            <a:ahLst/>
            <a:cxnLst/>
            <a:rect r="r" b="b" t="t" l="l"/>
            <a:pathLst>
              <a:path h="467404" w="383272">
                <a:moveTo>
                  <a:pt x="0" y="0"/>
                </a:moveTo>
                <a:lnTo>
                  <a:pt x="383272" y="0"/>
                </a:lnTo>
                <a:lnTo>
                  <a:pt x="383272" y="467404"/>
                </a:lnTo>
                <a:lnTo>
                  <a:pt x="0" y="4674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127522" y="2608578"/>
            <a:ext cx="6413009" cy="2329986"/>
            <a:chOff x="0" y="0"/>
            <a:chExt cx="8550679" cy="31066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15640" y="0"/>
              <a:ext cx="783586" cy="683678"/>
            </a:xfrm>
            <a:custGeom>
              <a:avLst/>
              <a:gdLst/>
              <a:ahLst/>
              <a:cxnLst/>
              <a:rect r="r" b="b" t="t" l="l"/>
              <a:pathLst>
                <a:path h="683678" w="783586">
                  <a:moveTo>
                    <a:pt x="0" y="0"/>
                  </a:moveTo>
                  <a:lnTo>
                    <a:pt x="783586" y="0"/>
                  </a:lnTo>
                  <a:lnTo>
                    <a:pt x="783586" y="683678"/>
                  </a:lnTo>
                  <a:lnTo>
                    <a:pt x="0" y="683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0" y="20191"/>
              <a:ext cx="4535045" cy="663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2"/>
                </a:lnSpc>
                <a:spcBef>
                  <a:spcPct val="0"/>
                </a:spcBef>
              </a:pPr>
              <a:r>
                <a:rPr lang="en-US" b="true" sz="3001">
                  <a:solidFill>
                    <a:srgbClr val="21A17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Back-</a:t>
              </a:r>
              <a:r>
                <a:rPr lang="en-US" b="true" sz="3001">
                  <a:solidFill>
                    <a:srgbClr val="21A17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end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15640" y="1164381"/>
              <a:ext cx="8435039" cy="1942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1469" indent="-245735" lvl="1">
                <a:lnSpc>
                  <a:spcPts val="4029"/>
                </a:lnSpc>
                <a:buFont typeface="Arial"/>
                <a:buChar char="•"/>
              </a:pPr>
              <a:r>
                <a:rPr lang="en-US" b="true" sz="2276">
                  <a:solidFill>
                    <a:srgbClr val="3E37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</a:t>
              </a:r>
              <a:r>
                <a:rPr lang="en-US" b="true" sz="2276">
                  <a:solidFill>
                    <a:srgbClr val="3E37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ast</a:t>
              </a:r>
              <a:r>
                <a:rPr lang="en-US" b="true" sz="2276">
                  <a:solidFill>
                    <a:srgbClr val="3E37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API</a:t>
              </a:r>
            </a:p>
            <a:p>
              <a:pPr algn="l" marL="491469" indent="-245735" lvl="1">
                <a:lnSpc>
                  <a:spcPts val="4029"/>
                </a:lnSpc>
                <a:buFont typeface="Arial"/>
                <a:buChar char="•"/>
              </a:pPr>
              <a:r>
                <a:rPr lang="en-US" b="true" sz="2276">
                  <a:solidFill>
                    <a:srgbClr val="3E37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</a:t>
              </a:r>
              <a:r>
                <a:rPr lang="en-US" b="true" sz="2276">
                  <a:solidFill>
                    <a:srgbClr val="3E37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ytho</a:t>
              </a:r>
              <a:r>
                <a:rPr lang="en-US" b="true" sz="2276">
                  <a:solidFill>
                    <a:srgbClr val="3E37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</a:t>
              </a:r>
            </a:p>
            <a:p>
              <a:pPr algn="l">
                <a:lnSpc>
                  <a:spcPts val="402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127522" y="5927321"/>
            <a:ext cx="683149" cy="591778"/>
          </a:xfrm>
          <a:custGeom>
            <a:avLst/>
            <a:gdLst/>
            <a:ahLst/>
            <a:cxnLst/>
            <a:rect r="r" b="b" t="t" l="l"/>
            <a:pathLst>
              <a:path h="591778" w="683149">
                <a:moveTo>
                  <a:pt x="0" y="0"/>
                </a:moveTo>
                <a:lnTo>
                  <a:pt x="683149" y="0"/>
                </a:lnTo>
                <a:lnTo>
                  <a:pt x="683149" y="591778"/>
                </a:lnTo>
                <a:lnTo>
                  <a:pt x="0" y="5917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221268" y="5794344"/>
            <a:ext cx="581918" cy="564460"/>
          </a:xfrm>
          <a:custGeom>
            <a:avLst/>
            <a:gdLst/>
            <a:ahLst/>
            <a:cxnLst/>
            <a:rect r="r" b="b" t="t" l="l"/>
            <a:pathLst>
              <a:path h="564460" w="581918">
                <a:moveTo>
                  <a:pt x="0" y="0"/>
                </a:moveTo>
                <a:lnTo>
                  <a:pt x="581918" y="0"/>
                </a:lnTo>
                <a:lnTo>
                  <a:pt x="581918" y="564460"/>
                </a:lnTo>
                <a:lnTo>
                  <a:pt x="0" y="56446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278861" y="2578052"/>
            <a:ext cx="1748138" cy="47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6"/>
              </a:lnSpc>
              <a:spcBef>
                <a:spcPct val="0"/>
              </a:spcBef>
            </a:pPr>
            <a:r>
              <a:rPr lang="en-US" b="true" sz="2826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2826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ront-end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32703" y="3393688"/>
            <a:ext cx="5956081" cy="139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710" indent="-231355" lvl="1">
              <a:lnSpc>
                <a:spcPts val="3793"/>
              </a:lnSpc>
              <a:buFont typeface="Arial"/>
              <a:buChar char="•"/>
            </a:pPr>
            <a:r>
              <a:rPr lang="en-US" b="true" sz="2143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2143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eo4j</a:t>
            </a:r>
          </a:p>
          <a:p>
            <a:pPr algn="l" marL="462710" indent="-231355" lvl="1">
              <a:lnSpc>
                <a:spcPts val="3793"/>
              </a:lnSpc>
              <a:buFont typeface="Arial"/>
              <a:buChar char="•"/>
            </a:pPr>
            <a:r>
              <a:rPr lang="en-US" b="true" sz="2143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b="true" sz="2143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os</a:t>
            </a:r>
            <a:r>
              <a:rPr lang="en-US" b="true" sz="2143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tgreSQL</a:t>
            </a:r>
          </a:p>
          <a:p>
            <a:pPr algn="l">
              <a:lnSpc>
                <a:spcPts val="379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373627" y="582920"/>
            <a:ext cx="7157365" cy="72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true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72402" y="3362378"/>
            <a:ext cx="1900645" cy="187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710" indent="-231355" lvl="1">
              <a:lnSpc>
                <a:spcPts val="3793"/>
              </a:lnSpc>
              <a:buFont typeface="Arial"/>
              <a:buChar char="•"/>
            </a:pPr>
            <a:r>
              <a:rPr lang="en-US" b="true" sz="21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Next.js</a:t>
            </a:r>
          </a:p>
          <a:p>
            <a:pPr algn="l" marL="462710" indent="-231355" lvl="1">
              <a:lnSpc>
                <a:spcPts val="3793"/>
              </a:lnSpc>
              <a:buFont typeface="Arial"/>
              <a:buChar char="•"/>
            </a:pPr>
            <a:r>
              <a:rPr lang="en-US" b="true" sz="21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React</a:t>
            </a:r>
          </a:p>
          <a:p>
            <a:pPr algn="l" marL="462710" indent="-231355" lvl="1">
              <a:lnSpc>
                <a:spcPts val="3793"/>
              </a:lnSpc>
              <a:buFont typeface="Arial"/>
              <a:buChar char="•"/>
            </a:pPr>
            <a:r>
              <a:rPr lang="en-US" b="true" sz="21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TypeScript</a:t>
            </a:r>
          </a:p>
          <a:p>
            <a:pPr algn="l" marL="462710" indent="-231355" lvl="1">
              <a:lnSpc>
                <a:spcPts val="3793"/>
              </a:lnSpc>
              <a:buFont typeface="Arial"/>
              <a:buChar char="•"/>
            </a:pPr>
            <a:r>
              <a:rPr lang="en-US" b="true" sz="21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Tailwind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78861" y="5814878"/>
            <a:ext cx="2995069" cy="47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6"/>
              </a:lnSpc>
              <a:spcBef>
                <a:spcPct val="0"/>
              </a:spcBef>
            </a:pPr>
            <a:r>
              <a:rPr lang="en-US" b="true" sz="2826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</a:t>
            </a:r>
            <a:r>
              <a:rPr lang="en-US" b="true" sz="2826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 Engineering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91252" y="6599205"/>
            <a:ext cx="1894521" cy="187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710" indent="-231355" lvl="1">
              <a:lnSpc>
                <a:spcPts val="3793"/>
              </a:lnSpc>
              <a:buFont typeface="Arial"/>
              <a:buChar char="•"/>
            </a:pPr>
            <a:r>
              <a:rPr lang="en-US" b="true" sz="21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Kafka</a:t>
            </a:r>
          </a:p>
          <a:p>
            <a:pPr algn="l" marL="462710" indent="-231355" lvl="1">
              <a:lnSpc>
                <a:spcPts val="3793"/>
              </a:lnSpc>
              <a:buFont typeface="Arial"/>
              <a:buChar char="•"/>
            </a:pPr>
            <a:r>
              <a:rPr lang="en-US" b="true" sz="21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</a:t>
            </a:r>
            <a:r>
              <a:rPr lang="en-US" b="true" sz="21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tabricks</a:t>
            </a:r>
          </a:p>
          <a:p>
            <a:pPr algn="l" marL="462710" indent="-231355" lvl="1">
              <a:lnSpc>
                <a:spcPts val="3793"/>
              </a:lnSpc>
              <a:buFont typeface="Arial"/>
              <a:buChar char="•"/>
            </a:pPr>
            <a:r>
              <a:rPr lang="en-US" b="true" sz="21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PySpark</a:t>
            </a:r>
          </a:p>
          <a:p>
            <a:pPr algn="l" marL="462710" indent="-231355" lvl="1">
              <a:lnSpc>
                <a:spcPts val="3793"/>
              </a:lnSpc>
              <a:buFont typeface="Arial"/>
              <a:buChar char="•"/>
            </a:pPr>
            <a:r>
              <a:rPr lang="en-US" b="true" sz="21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Snowflake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127522" y="5927321"/>
            <a:ext cx="6503115" cy="1270505"/>
            <a:chOff x="0" y="0"/>
            <a:chExt cx="8670820" cy="1694007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57150"/>
              <a:ext cx="4598765" cy="6720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61"/>
                </a:lnSpc>
                <a:spcBef>
                  <a:spcPct val="0"/>
                </a:spcBef>
              </a:pPr>
              <a:r>
                <a:rPr lang="en-US" b="true" sz="3043">
                  <a:solidFill>
                    <a:srgbClr val="21A17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Analytics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17265" y="1104053"/>
              <a:ext cx="8553555" cy="589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8375" indent="-249187" lvl="1">
                <a:lnSpc>
                  <a:spcPts val="4085"/>
                </a:lnSpc>
                <a:buFont typeface="Arial"/>
                <a:buChar char="•"/>
              </a:pPr>
              <a:r>
                <a:rPr lang="en-US" b="true" sz="2308">
                  <a:solidFill>
                    <a:srgbClr val="3E37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Power BI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4833806" y="5836521"/>
            <a:ext cx="3202249" cy="47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6"/>
              </a:lnSpc>
              <a:spcBef>
                <a:spcPct val="0"/>
              </a:spcBef>
            </a:pPr>
            <a:r>
              <a:rPr lang="en-US" b="true" sz="2826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Artful Intelligence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02146" y="6624852"/>
            <a:ext cx="5956081" cy="139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710" indent="-231355" lvl="1">
              <a:lnSpc>
                <a:spcPts val="3793"/>
              </a:lnSpc>
              <a:buFont typeface="Arial"/>
              <a:buChar char="•"/>
            </a:pPr>
            <a:r>
              <a:rPr lang="en-US" b="true" sz="2143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</a:t>
            </a:r>
            <a:r>
              <a:rPr lang="en-US" b="true" sz="2143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oq</a:t>
            </a:r>
          </a:p>
          <a:p>
            <a:pPr algn="l" marL="462710" indent="-231355" lvl="1">
              <a:lnSpc>
                <a:spcPts val="3793"/>
              </a:lnSpc>
              <a:buFont typeface="Arial"/>
              <a:buChar char="•"/>
            </a:pPr>
            <a:r>
              <a:rPr lang="en-US" b="true" sz="2143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LLaMA</a:t>
            </a:r>
          </a:p>
          <a:p>
            <a:pPr algn="l">
              <a:lnSpc>
                <a:spcPts val="3793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18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22643" y="1321941"/>
            <a:ext cx="15796309" cy="7910759"/>
          </a:xfrm>
          <a:custGeom>
            <a:avLst/>
            <a:gdLst/>
            <a:ahLst/>
            <a:cxnLst/>
            <a:rect r="r" b="b" t="t" l="l"/>
            <a:pathLst>
              <a:path h="7910759" w="15796309">
                <a:moveTo>
                  <a:pt x="0" y="0"/>
                </a:moveTo>
                <a:lnTo>
                  <a:pt x="15796309" y="0"/>
                </a:lnTo>
                <a:lnTo>
                  <a:pt x="15796309" y="7910759"/>
                </a:lnTo>
                <a:lnTo>
                  <a:pt x="0" y="79107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8768" r="0" b="-14352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342320" y="582920"/>
            <a:ext cx="7157365" cy="72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true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Live Application + Testing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19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54610" y="1782855"/>
            <a:ext cx="15410189" cy="7520118"/>
          </a:xfrm>
          <a:custGeom>
            <a:avLst/>
            <a:gdLst/>
            <a:ahLst/>
            <a:cxnLst/>
            <a:rect r="r" b="b" t="t" l="l"/>
            <a:pathLst>
              <a:path h="7520118" w="15410189">
                <a:moveTo>
                  <a:pt x="0" y="0"/>
                </a:moveTo>
                <a:lnTo>
                  <a:pt x="15410189" y="0"/>
                </a:lnTo>
                <a:lnTo>
                  <a:pt x="15410189" y="7520118"/>
                </a:lnTo>
                <a:lnTo>
                  <a:pt x="0" y="75201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7828" r="0" b="-18784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415044" y="573395"/>
            <a:ext cx="7631730" cy="774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2"/>
              </a:lnSpc>
            </a:pPr>
            <a:r>
              <a:rPr lang="en-US" sz="4530" b="true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Timeline + Deliverables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009121" y="527494"/>
            <a:ext cx="8785839" cy="89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1"/>
              </a:lnSpc>
            </a:pPr>
            <a:r>
              <a:rPr lang="en-US" sz="5215" b="true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97953" y="1785694"/>
            <a:ext cx="5636555" cy="3075220"/>
            <a:chOff x="0" y="0"/>
            <a:chExt cx="7515407" cy="410029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515407" cy="4100293"/>
              <a:chOff x="0" y="0"/>
              <a:chExt cx="1163577" cy="63483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63578" cy="634830"/>
              </a:xfrm>
              <a:custGeom>
                <a:avLst/>
                <a:gdLst/>
                <a:ahLst/>
                <a:cxnLst/>
                <a:rect r="r" b="b" t="t" l="l"/>
                <a:pathLst>
                  <a:path h="634830" w="1163578">
                    <a:moveTo>
                      <a:pt x="48073" y="0"/>
                    </a:moveTo>
                    <a:lnTo>
                      <a:pt x="1115504" y="0"/>
                    </a:lnTo>
                    <a:cubicBezTo>
                      <a:pt x="1142054" y="0"/>
                      <a:pt x="1163578" y="21523"/>
                      <a:pt x="1163578" y="48073"/>
                    </a:cubicBezTo>
                    <a:lnTo>
                      <a:pt x="1163578" y="586757"/>
                    </a:lnTo>
                    <a:cubicBezTo>
                      <a:pt x="1163578" y="613307"/>
                      <a:pt x="1142054" y="634830"/>
                      <a:pt x="1115504" y="634830"/>
                    </a:cubicBezTo>
                    <a:lnTo>
                      <a:pt x="48073" y="634830"/>
                    </a:lnTo>
                    <a:cubicBezTo>
                      <a:pt x="21523" y="634830"/>
                      <a:pt x="0" y="613307"/>
                      <a:pt x="0" y="586757"/>
                    </a:cubicBezTo>
                    <a:lnTo>
                      <a:pt x="0" y="48073"/>
                    </a:lnTo>
                    <a:cubicBezTo>
                      <a:pt x="0" y="21523"/>
                      <a:pt x="21523" y="0"/>
                      <a:pt x="48073" y="0"/>
                    </a:cubicBezTo>
                    <a:close/>
                  </a:path>
                </a:pathLst>
              </a:custGeom>
              <a:solidFill>
                <a:srgbClr val="04795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163577" cy="672930"/>
              </a:xfrm>
              <a:prstGeom prst="rect">
                <a:avLst/>
              </a:prstGeom>
            </p:spPr>
            <p:txBody>
              <a:bodyPr anchor="ctr" rtlCol="false" tIns="64812" lIns="64812" bIns="64812" rIns="6481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202870" y="104470"/>
              <a:ext cx="4637272" cy="698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56"/>
                </a:lnSpc>
              </a:pPr>
              <a:r>
                <a:rPr lang="en-US" sz="3183" b="true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Youssef Adel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27903" y="840294"/>
              <a:ext cx="5787201" cy="734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7"/>
                </a:lnSpc>
              </a:pPr>
              <a:r>
                <a:rPr lang="en-US" b="true" sz="1641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</a:t>
              </a:r>
              <a:r>
                <a:rPr lang="en-US" b="true" sz="1641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aph Database Designer • Full-Stack Developer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27903" y="1701655"/>
              <a:ext cx="6582926" cy="1468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b="true" sz="1899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System architecture, Neo4j schema design, Backend APIs, Frontend development, Graph database integration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97953" y="5995186"/>
            <a:ext cx="5636555" cy="2786499"/>
            <a:chOff x="0" y="0"/>
            <a:chExt cx="7515407" cy="3715332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515407" cy="3715332"/>
              <a:chOff x="0" y="0"/>
              <a:chExt cx="1163577" cy="57522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63578" cy="575229"/>
              </a:xfrm>
              <a:custGeom>
                <a:avLst/>
                <a:gdLst/>
                <a:ahLst/>
                <a:cxnLst/>
                <a:rect r="r" b="b" t="t" l="l"/>
                <a:pathLst>
                  <a:path h="575229" w="1163578">
                    <a:moveTo>
                      <a:pt x="48073" y="0"/>
                    </a:moveTo>
                    <a:lnTo>
                      <a:pt x="1115504" y="0"/>
                    </a:lnTo>
                    <a:cubicBezTo>
                      <a:pt x="1142054" y="0"/>
                      <a:pt x="1163578" y="21523"/>
                      <a:pt x="1163578" y="48073"/>
                    </a:cubicBezTo>
                    <a:lnTo>
                      <a:pt x="1163578" y="527155"/>
                    </a:lnTo>
                    <a:cubicBezTo>
                      <a:pt x="1163578" y="553705"/>
                      <a:pt x="1142054" y="575229"/>
                      <a:pt x="1115504" y="575229"/>
                    </a:cubicBezTo>
                    <a:lnTo>
                      <a:pt x="48073" y="575229"/>
                    </a:lnTo>
                    <a:cubicBezTo>
                      <a:pt x="21523" y="575229"/>
                      <a:pt x="0" y="553705"/>
                      <a:pt x="0" y="527155"/>
                    </a:cubicBezTo>
                    <a:lnTo>
                      <a:pt x="0" y="48073"/>
                    </a:lnTo>
                    <a:cubicBezTo>
                      <a:pt x="0" y="21523"/>
                      <a:pt x="21523" y="0"/>
                      <a:pt x="48073" y="0"/>
                    </a:cubicBezTo>
                    <a:close/>
                  </a:path>
                </a:pathLst>
              </a:custGeom>
              <a:solidFill>
                <a:srgbClr val="047954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163577" cy="613329"/>
              </a:xfrm>
              <a:prstGeom prst="rect">
                <a:avLst/>
              </a:prstGeom>
            </p:spPr>
            <p:txBody>
              <a:bodyPr anchor="ctr" rtlCol="false" tIns="64812" lIns="64812" bIns="64812" rIns="6481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202870" y="104470"/>
              <a:ext cx="4637272" cy="694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56"/>
                </a:lnSpc>
              </a:pPr>
              <a:r>
                <a:rPr lang="en-US" sz="3183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</a:t>
              </a:r>
              <a:r>
                <a:rPr lang="en-US" b="true" sz="318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ohamed Salah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527903" y="836333"/>
              <a:ext cx="5787201" cy="353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7"/>
                </a:lnSpc>
              </a:pPr>
              <a:r>
                <a:rPr lang="en-US" b="true" sz="1641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Engineer • BI Developer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27903" y="1316694"/>
              <a:ext cx="6582926" cy="1468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1899" b="true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</a:t>
              </a:r>
              <a:r>
                <a:rPr lang="en-US" b="true" sz="1899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ache Kafka streaming, Snowflake data warehouse, Power BI dashboards, Data analytics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669488" y="4154262"/>
            <a:ext cx="5636555" cy="3072249"/>
            <a:chOff x="0" y="0"/>
            <a:chExt cx="7515407" cy="4096332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7515407" cy="4096332"/>
              <a:chOff x="0" y="0"/>
              <a:chExt cx="1163577" cy="63421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163578" cy="634217"/>
              </a:xfrm>
              <a:custGeom>
                <a:avLst/>
                <a:gdLst/>
                <a:ahLst/>
                <a:cxnLst/>
                <a:rect r="r" b="b" t="t" l="l"/>
                <a:pathLst>
                  <a:path h="634217" w="1163578">
                    <a:moveTo>
                      <a:pt x="48073" y="0"/>
                    </a:moveTo>
                    <a:lnTo>
                      <a:pt x="1115504" y="0"/>
                    </a:lnTo>
                    <a:cubicBezTo>
                      <a:pt x="1142054" y="0"/>
                      <a:pt x="1163578" y="21523"/>
                      <a:pt x="1163578" y="48073"/>
                    </a:cubicBezTo>
                    <a:lnTo>
                      <a:pt x="1163578" y="586144"/>
                    </a:lnTo>
                    <a:cubicBezTo>
                      <a:pt x="1163578" y="612694"/>
                      <a:pt x="1142054" y="634217"/>
                      <a:pt x="1115504" y="634217"/>
                    </a:cubicBezTo>
                    <a:lnTo>
                      <a:pt x="48073" y="634217"/>
                    </a:lnTo>
                    <a:cubicBezTo>
                      <a:pt x="21523" y="634217"/>
                      <a:pt x="0" y="612694"/>
                      <a:pt x="0" y="586144"/>
                    </a:cubicBezTo>
                    <a:lnTo>
                      <a:pt x="0" y="48073"/>
                    </a:lnTo>
                    <a:cubicBezTo>
                      <a:pt x="0" y="21523"/>
                      <a:pt x="21523" y="0"/>
                      <a:pt x="48073" y="0"/>
                    </a:cubicBezTo>
                    <a:close/>
                  </a:path>
                </a:pathLst>
              </a:custGeom>
              <a:solidFill>
                <a:srgbClr val="047954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1163577" cy="672317"/>
              </a:xfrm>
              <a:prstGeom prst="rect">
                <a:avLst/>
              </a:prstGeom>
            </p:spPr>
            <p:txBody>
              <a:bodyPr anchor="ctr" rtlCol="false" tIns="64812" lIns="64812" bIns="64812" rIns="6481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1202870" y="104470"/>
              <a:ext cx="4637272" cy="694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56"/>
                </a:lnSpc>
              </a:pPr>
              <a:r>
                <a:rPr lang="en-US" sz="3183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  <a:r>
                <a:rPr lang="en-US" b="true" sz="318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mr Ayman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527903" y="836333"/>
              <a:ext cx="5787201" cy="734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7"/>
                </a:lnSpc>
              </a:pPr>
              <a:r>
                <a:rPr lang="en-US" sz="1641" b="true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Full-S</a:t>
              </a:r>
              <a:r>
                <a:rPr lang="en-US" b="true" sz="1641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tack Developer • Presentation Designer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527903" y="1697694"/>
              <a:ext cx="6582926" cy="1468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1899" b="true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Full-st</a:t>
              </a:r>
              <a:r>
                <a:rPr lang="en-US" b="true" sz="1899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ack development, UI implementation, Presentation design, Demo video production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544168" y="1785694"/>
            <a:ext cx="5636555" cy="3345503"/>
            <a:chOff x="0" y="0"/>
            <a:chExt cx="7515407" cy="446067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7515407" cy="4460670"/>
              <a:chOff x="0" y="0"/>
              <a:chExt cx="1163577" cy="690626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163578" cy="690626"/>
              </a:xfrm>
              <a:custGeom>
                <a:avLst/>
                <a:gdLst/>
                <a:ahLst/>
                <a:cxnLst/>
                <a:rect r="r" b="b" t="t" l="l"/>
                <a:pathLst>
                  <a:path h="690626" w="1163578">
                    <a:moveTo>
                      <a:pt x="48073" y="0"/>
                    </a:moveTo>
                    <a:lnTo>
                      <a:pt x="1115504" y="0"/>
                    </a:lnTo>
                    <a:cubicBezTo>
                      <a:pt x="1142054" y="0"/>
                      <a:pt x="1163578" y="21523"/>
                      <a:pt x="1163578" y="48073"/>
                    </a:cubicBezTo>
                    <a:lnTo>
                      <a:pt x="1163578" y="642553"/>
                    </a:lnTo>
                    <a:cubicBezTo>
                      <a:pt x="1163578" y="669103"/>
                      <a:pt x="1142054" y="690626"/>
                      <a:pt x="1115504" y="690626"/>
                    </a:cubicBezTo>
                    <a:lnTo>
                      <a:pt x="48073" y="690626"/>
                    </a:lnTo>
                    <a:cubicBezTo>
                      <a:pt x="21523" y="690626"/>
                      <a:pt x="0" y="669103"/>
                      <a:pt x="0" y="642553"/>
                    </a:cubicBezTo>
                    <a:lnTo>
                      <a:pt x="0" y="48073"/>
                    </a:lnTo>
                    <a:cubicBezTo>
                      <a:pt x="0" y="21523"/>
                      <a:pt x="21523" y="0"/>
                      <a:pt x="48073" y="0"/>
                    </a:cubicBezTo>
                    <a:close/>
                  </a:path>
                </a:pathLst>
              </a:custGeom>
              <a:solidFill>
                <a:srgbClr val="047954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163577" cy="728726"/>
              </a:xfrm>
              <a:prstGeom prst="rect">
                <a:avLst/>
              </a:prstGeom>
            </p:spPr>
            <p:txBody>
              <a:bodyPr anchor="ctr" rtlCol="false" tIns="64812" lIns="64812" bIns="64812" rIns="6481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1063170" y="104470"/>
              <a:ext cx="5726631" cy="694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56"/>
                </a:lnSpc>
              </a:pPr>
              <a:r>
                <a:rPr lang="en-US" sz="3183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  <a:r>
                <a:rPr lang="en-US" b="true" sz="318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matAlrahman Sayed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527903" y="987476"/>
              <a:ext cx="5787201" cy="353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7"/>
                </a:lnSpc>
              </a:pPr>
              <a:r>
                <a:rPr lang="en-US" sz="1641" b="true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Simul</a:t>
              </a:r>
              <a:r>
                <a:rPr lang="en-US" b="true" sz="1641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ation &amp; DevOps Engineer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527903" y="1752720"/>
              <a:ext cx="6987504" cy="1563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6"/>
                </a:lnSpc>
              </a:pPr>
              <a:r>
                <a:rPr lang="en-US" sz="2016" b="true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Pres</a:t>
              </a:r>
              <a:r>
                <a:rPr lang="en-US" b="true" sz="2016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cription simulation engine, Kafka Producer, Docker containerization, Environment setup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544168" y="5995186"/>
            <a:ext cx="5636555" cy="2786499"/>
            <a:chOff x="0" y="0"/>
            <a:chExt cx="7515407" cy="3715332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7515407" cy="3715332"/>
              <a:chOff x="0" y="0"/>
              <a:chExt cx="1163577" cy="575229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163578" cy="575229"/>
              </a:xfrm>
              <a:custGeom>
                <a:avLst/>
                <a:gdLst/>
                <a:ahLst/>
                <a:cxnLst/>
                <a:rect r="r" b="b" t="t" l="l"/>
                <a:pathLst>
                  <a:path h="575229" w="1163578">
                    <a:moveTo>
                      <a:pt x="48073" y="0"/>
                    </a:moveTo>
                    <a:lnTo>
                      <a:pt x="1115504" y="0"/>
                    </a:lnTo>
                    <a:cubicBezTo>
                      <a:pt x="1142054" y="0"/>
                      <a:pt x="1163578" y="21523"/>
                      <a:pt x="1163578" y="48073"/>
                    </a:cubicBezTo>
                    <a:lnTo>
                      <a:pt x="1163578" y="527155"/>
                    </a:lnTo>
                    <a:cubicBezTo>
                      <a:pt x="1163578" y="553705"/>
                      <a:pt x="1142054" y="575229"/>
                      <a:pt x="1115504" y="575229"/>
                    </a:cubicBezTo>
                    <a:lnTo>
                      <a:pt x="48073" y="575229"/>
                    </a:lnTo>
                    <a:cubicBezTo>
                      <a:pt x="21523" y="575229"/>
                      <a:pt x="0" y="553705"/>
                      <a:pt x="0" y="527155"/>
                    </a:cubicBezTo>
                    <a:lnTo>
                      <a:pt x="0" y="48073"/>
                    </a:lnTo>
                    <a:cubicBezTo>
                      <a:pt x="0" y="21523"/>
                      <a:pt x="21523" y="0"/>
                      <a:pt x="48073" y="0"/>
                    </a:cubicBezTo>
                    <a:close/>
                  </a:path>
                </a:pathLst>
              </a:custGeom>
              <a:solidFill>
                <a:srgbClr val="04795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1163577" cy="613329"/>
              </a:xfrm>
              <a:prstGeom prst="rect">
                <a:avLst/>
              </a:prstGeom>
            </p:spPr>
            <p:txBody>
              <a:bodyPr anchor="ctr" rtlCol="false" tIns="64812" lIns="64812" bIns="64812" rIns="6481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1202870" y="104470"/>
              <a:ext cx="4637272" cy="694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56"/>
                </a:lnSpc>
              </a:pPr>
              <a:r>
                <a:rPr lang="en-US" sz="3183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Ali</a:t>
              </a:r>
              <a:r>
                <a:rPr lang="en-US" b="true" sz="318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Gad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527903" y="836333"/>
              <a:ext cx="5787201" cy="353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7"/>
                </a:lnSpc>
              </a:pPr>
              <a:r>
                <a:rPr lang="en-US" sz="1641" b="true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</a:t>
              </a:r>
              <a:r>
                <a:rPr lang="en-US" b="true" sz="1641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ta Pipeline Engineer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527903" y="1316694"/>
              <a:ext cx="6582926" cy="1468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1899" b="true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</a:t>
              </a:r>
              <a:r>
                <a:rPr lang="en-US" b="true" sz="1899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ache Airflow orchestration, Apache Spark processing, ETL pipeline automation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6908"/>
            <a:ext cx="5922755" cy="6201837"/>
          </a:xfrm>
          <a:custGeom>
            <a:avLst/>
            <a:gdLst/>
            <a:ahLst/>
            <a:cxnLst/>
            <a:rect r="r" b="b" t="t" l="l"/>
            <a:pathLst>
              <a:path h="6201837" w="5922755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6085"/>
            <a:ext cx="18288000" cy="424574"/>
            <a:chOff x="0" y="0"/>
            <a:chExt cx="24384000" cy="5660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69167"/>
              </a:xfrm>
              <a:custGeom>
                <a:avLst/>
                <a:gdLst/>
                <a:ahLst/>
                <a:cxnLst/>
                <a:rect r="r" b="b" t="t" l="l"/>
                <a:pathLst>
                  <a:path h="69167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cap="flat" w="50800">
              <a:solidFill>
                <a:srgbClr val="2659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9156" y="512315"/>
            <a:ext cx="1186974" cy="1091250"/>
          </a:xfrm>
          <a:custGeom>
            <a:avLst/>
            <a:gdLst/>
            <a:ahLst/>
            <a:cxnLst/>
            <a:rect r="r" b="b" t="t" l="l"/>
            <a:pathLst>
              <a:path h="1091250" w="1186974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8489" y="432897"/>
            <a:ext cx="1952621" cy="1098350"/>
          </a:xfrm>
          <a:custGeom>
            <a:avLst/>
            <a:gdLst/>
            <a:ahLst/>
            <a:cxnLst/>
            <a:rect r="r" b="b" t="t" l="l"/>
            <a:pathLst>
              <a:path h="1098350" w="1952621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12752" y="9067435"/>
            <a:ext cx="2401270" cy="1257665"/>
          </a:xfrm>
          <a:custGeom>
            <a:avLst/>
            <a:gdLst/>
            <a:ahLst/>
            <a:cxnLst/>
            <a:rect r="r" b="b" t="t" l="l"/>
            <a:pathLst>
              <a:path h="1257665" w="2401270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24346" y="9489964"/>
            <a:ext cx="694605" cy="624793"/>
            <a:chOff x="0" y="0"/>
            <a:chExt cx="182941" cy="164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41" cy="164555"/>
            </a:xfrm>
            <a:custGeom>
              <a:avLst/>
              <a:gdLst/>
              <a:ahLst/>
              <a:cxnLst/>
              <a:rect r="r" b="b" t="t" l="l"/>
              <a:pathLst>
                <a:path h="164555" w="182941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2643" y="9482263"/>
            <a:ext cx="4082876" cy="564904"/>
            <a:chOff x="0" y="0"/>
            <a:chExt cx="1075325" cy="1487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25" cy="148781"/>
            </a:xfrm>
            <a:custGeom>
              <a:avLst/>
              <a:gdLst/>
              <a:ahLst/>
              <a:cxnLst/>
              <a:rect r="r" b="b" t="t" l="l"/>
              <a:pathLst>
                <a:path h="148781" w="1075325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72207" y="6246376"/>
            <a:ext cx="14375915" cy="146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46"/>
              </a:lnSpc>
            </a:pPr>
            <a:r>
              <a:rPr lang="en-US" b="true" sz="8533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9156" y="5050448"/>
            <a:ext cx="18955782" cy="88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37"/>
              </a:lnSpc>
              <a:spcBef>
                <a:spcPct val="0"/>
              </a:spcBef>
            </a:pPr>
            <a:r>
              <a:rPr lang="en-US" b="true" sz="5098" strike="noStrike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7" tooltip="https://datadoseinfo.lovable.app"/>
              </a:rPr>
              <a:t>DataDose info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878923" y="3226692"/>
            <a:ext cx="4109566" cy="3279061"/>
          </a:xfrm>
          <a:custGeom>
            <a:avLst/>
            <a:gdLst/>
            <a:ahLst/>
            <a:cxnLst/>
            <a:rect r="r" b="b" t="t" l="l"/>
            <a:pathLst>
              <a:path h="3279061" w="4109566">
                <a:moveTo>
                  <a:pt x="0" y="0"/>
                </a:moveTo>
                <a:lnTo>
                  <a:pt x="4109566" y="0"/>
                </a:lnTo>
                <a:lnTo>
                  <a:pt x="4109566" y="3279061"/>
                </a:lnTo>
                <a:lnTo>
                  <a:pt x="0" y="32790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0214" t="-77860" r="-169896" b="-97953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293013" y="5231968"/>
            <a:ext cx="783287" cy="717686"/>
          </a:xfrm>
          <a:custGeom>
            <a:avLst/>
            <a:gdLst/>
            <a:ahLst/>
            <a:cxnLst/>
            <a:rect r="r" b="b" t="t" l="l"/>
            <a:pathLst>
              <a:path h="717686" w="783287">
                <a:moveTo>
                  <a:pt x="0" y="0"/>
                </a:moveTo>
                <a:lnTo>
                  <a:pt x="783287" y="0"/>
                </a:lnTo>
                <a:lnTo>
                  <a:pt x="783287" y="717687"/>
                </a:lnTo>
                <a:lnTo>
                  <a:pt x="0" y="7176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7313" y="2426710"/>
            <a:ext cx="18955782" cy="136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37"/>
              </a:lnSpc>
              <a:spcBef>
                <a:spcPct val="0"/>
              </a:spcBef>
            </a:pPr>
            <a:r>
              <a:rPr lang="en-US" b="true" sz="5098" strike="noStrike" u="none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DataDose</a:t>
            </a:r>
          </a:p>
          <a:p>
            <a:pPr algn="l" marL="0" indent="0" lvl="0">
              <a:lnSpc>
                <a:spcPts val="3659"/>
              </a:lnSpc>
              <a:spcBef>
                <a:spcPct val="0"/>
              </a:spcBef>
            </a:pPr>
            <a:r>
              <a:rPr lang="en-US" b="true" sz="2613" strike="noStrike" u="none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Making medication safety smarter, faster, and more intelligent.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DAHNbW-MkOU</dc:identifier>
  <dcterms:modified xsi:type="dcterms:W3CDTF">2011-08-01T06:04:30Z</dcterms:modified>
  <cp:revision>1</cp:revision>
  <dc:title>5</dc:title>
</cp:coreProperties>
</file>