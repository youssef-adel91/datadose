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 Bold" panose="020B0604020202020204" charset="0"/>
      <p:regular r:id="rId19"/>
    </p:embeddedFont>
    <p:embeddedFont>
      <p:font typeface="Cairo Bold" panose="020B0604020202020204" charset="-78"/>
      <p:regular r:id="rId20"/>
    </p:embeddedFont>
    <p:embeddedFont>
      <p:font typeface="Canva Sans" panose="020B0604020202020204" charset="0"/>
      <p:regular r:id="rId21"/>
    </p:embeddedFont>
    <p:embeddedFont>
      <p:font typeface="Canva Sans Bold" panose="020B0604020202020204" charset="0"/>
      <p:regular r:id="rId22"/>
    </p:embeddedFont>
    <p:embeddedFont>
      <p:font typeface="League Spart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sv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17" Type="http://schemas.openxmlformats.org/officeDocument/2006/relationships/image" Target="../media/image36.svg"/><Relationship Id="rId2" Type="http://schemas.openxmlformats.org/officeDocument/2006/relationships/image" Target="../media/image1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hyperlink" Target="https://canva.link/9j74jyak29oh6tw" TargetMode="External"/><Relationship Id="rId10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svg"/><Relationship Id="rId3" Type="http://schemas.openxmlformats.org/officeDocument/2006/relationships/image" Target="../media/image2.sv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1.svg"/><Relationship Id="rId5" Type="http://schemas.openxmlformats.org/officeDocument/2006/relationships/image" Target="../media/image4.pn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svg"/><Relationship Id="rId7" Type="http://schemas.openxmlformats.org/officeDocument/2006/relationships/hyperlink" Target="https://drawsql.app/teams/database-280/diagrams/datadosef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18" Type="http://schemas.openxmlformats.org/officeDocument/2006/relationships/image" Target="../media/image61.svg"/><Relationship Id="rId3" Type="http://schemas.openxmlformats.org/officeDocument/2006/relationships/image" Target="../media/image2.svg"/><Relationship Id="rId7" Type="http://schemas.openxmlformats.org/officeDocument/2006/relationships/image" Target="../media/image50.png"/><Relationship Id="rId12" Type="http://schemas.openxmlformats.org/officeDocument/2006/relationships/image" Target="../media/image55.svg"/><Relationship Id="rId17" Type="http://schemas.openxmlformats.org/officeDocument/2006/relationships/image" Target="../media/image60.png"/><Relationship Id="rId2" Type="http://schemas.openxmlformats.org/officeDocument/2006/relationships/image" Target="../media/image1.png"/><Relationship Id="rId16" Type="http://schemas.openxmlformats.org/officeDocument/2006/relationships/image" Target="../media/image5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4.png"/><Relationship Id="rId5" Type="http://schemas.openxmlformats.org/officeDocument/2006/relationships/image" Target="../media/image4.png"/><Relationship Id="rId15" Type="http://schemas.openxmlformats.org/officeDocument/2006/relationships/image" Target="../media/image58.png"/><Relationship Id="rId10" Type="http://schemas.openxmlformats.org/officeDocument/2006/relationships/image" Target="../media/image53.svg"/><Relationship Id="rId4" Type="http://schemas.openxmlformats.org/officeDocument/2006/relationships/image" Target="../media/image3.png"/><Relationship Id="rId9" Type="http://schemas.openxmlformats.org/officeDocument/2006/relationships/image" Target="../media/image52.png"/><Relationship Id="rId14" Type="http://schemas.openxmlformats.org/officeDocument/2006/relationships/image" Target="../media/image5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datadoseinfo.lovable.ap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5.svg"/><Relationship Id="rId4" Type="http://schemas.openxmlformats.org/officeDocument/2006/relationships/image" Target="../media/image2.svg"/><Relationship Id="rId9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01618" y="5337683"/>
            <a:ext cx="9138132" cy="629983"/>
            <a:chOff x="0" y="0"/>
            <a:chExt cx="12184175" cy="8399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6430" cy="839977"/>
            </a:xfrm>
            <a:custGeom>
              <a:avLst/>
              <a:gdLst/>
              <a:ahLst/>
              <a:cxnLst/>
              <a:rect l="l" t="t" r="r" b="b"/>
              <a:pathLst>
                <a:path w="1206430" h="839977">
                  <a:moveTo>
                    <a:pt x="0" y="0"/>
                  </a:moveTo>
                  <a:lnTo>
                    <a:pt x="1206430" y="0"/>
                  </a:lnTo>
                  <a:lnTo>
                    <a:pt x="1206430" y="839977"/>
                  </a:lnTo>
                  <a:lnTo>
                    <a:pt x="0" y="83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81479" y="-67914"/>
              <a:ext cx="10602696" cy="8984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07"/>
                </a:lnSpc>
              </a:pPr>
              <a:r>
                <a:rPr lang="en-US" sz="4076" b="1">
                  <a:solidFill>
                    <a:srgbClr val="21A176"/>
                  </a:solidFill>
                  <a:latin typeface="Cairo Bold"/>
                  <a:ea typeface="Cairo Bold"/>
                  <a:cs typeface="Cairo Bold"/>
                  <a:sym typeface="Cairo Bold"/>
                </a:rPr>
                <a:t>Data Dose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19890" y="6600007"/>
            <a:ext cx="5550794" cy="597819"/>
            <a:chOff x="0" y="0"/>
            <a:chExt cx="7401058" cy="797092"/>
          </a:xfrm>
        </p:grpSpPr>
        <p:sp>
          <p:nvSpPr>
            <p:cNvPr id="21" name="Freeform 21"/>
            <p:cNvSpPr/>
            <p:nvPr/>
          </p:nvSpPr>
          <p:spPr>
            <a:xfrm>
              <a:off x="1505654" y="0"/>
              <a:ext cx="762220" cy="797092"/>
            </a:xfrm>
            <a:custGeom>
              <a:avLst/>
              <a:gdLst/>
              <a:ahLst/>
              <a:cxnLst/>
              <a:rect l="l" t="t" r="r" b="b"/>
              <a:pathLst>
                <a:path w="762220" h="797092">
                  <a:moveTo>
                    <a:pt x="0" y="0"/>
                  </a:moveTo>
                  <a:lnTo>
                    <a:pt x="762220" y="0"/>
                  </a:lnTo>
                  <a:lnTo>
                    <a:pt x="762220" y="797092"/>
                  </a:lnTo>
                  <a:lnTo>
                    <a:pt x="0" y="797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7401058" cy="734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2"/>
                </a:lnSpc>
              </a:pPr>
              <a:r>
                <a:rPr lang="en-US" sz="3294">
                  <a:solidFill>
                    <a:srgbClr val="21A17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June 26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2242122" y="4769908"/>
            <a:ext cx="4542530" cy="3624527"/>
          </a:xfrm>
          <a:custGeom>
            <a:avLst/>
            <a:gdLst/>
            <a:ahLst/>
            <a:cxnLst/>
            <a:rect l="l" t="t" r="r" b="b"/>
            <a:pathLst>
              <a:path w="4542530" h="3624527">
                <a:moveTo>
                  <a:pt x="0" y="0"/>
                </a:moveTo>
                <a:lnTo>
                  <a:pt x="4542530" y="0"/>
                </a:lnTo>
                <a:lnTo>
                  <a:pt x="4542530" y="3624527"/>
                </a:lnTo>
                <a:lnTo>
                  <a:pt x="0" y="36245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0214" t="-77860" r="-169896" b="-979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-2047156" y="2801276"/>
            <a:ext cx="14289278" cy="144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4"/>
              </a:lnSpc>
            </a:pPr>
            <a:r>
              <a:rPr lang="en-US" sz="8481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DataDose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1559609" y="4190993"/>
            <a:ext cx="1867856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Clinical Decision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10815" y="2332019"/>
            <a:ext cx="622401" cy="599061"/>
          </a:xfrm>
          <a:custGeom>
            <a:avLst/>
            <a:gdLst/>
            <a:ahLst/>
            <a:cxnLst/>
            <a:rect l="l" t="t" r="r" b="b"/>
            <a:pathLst>
              <a:path w="622401" h="599061">
                <a:moveTo>
                  <a:pt x="0" y="0"/>
                </a:moveTo>
                <a:lnTo>
                  <a:pt x="622402" y="0"/>
                </a:lnTo>
                <a:lnTo>
                  <a:pt x="622402" y="599062"/>
                </a:lnTo>
                <a:lnTo>
                  <a:pt x="0" y="599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61792" y="2474390"/>
            <a:ext cx="1519608" cy="447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sz="2637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418452" y="2332019"/>
            <a:ext cx="4020948" cy="682376"/>
            <a:chOff x="0" y="0"/>
            <a:chExt cx="4946265" cy="9098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2182" cy="909835"/>
            </a:xfrm>
            <a:custGeom>
              <a:avLst/>
              <a:gdLst/>
              <a:ahLst/>
              <a:cxnLst/>
              <a:rect l="l" t="t" r="r" b="b"/>
              <a:pathLst>
                <a:path w="722182" h="909835">
                  <a:moveTo>
                    <a:pt x="0" y="0"/>
                  </a:moveTo>
                  <a:lnTo>
                    <a:pt x="722182" y="0"/>
                  </a:lnTo>
                  <a:lnTo>
                    <a:pt x="722182" y="909835"/>
                  </a:lnTo>
                  <a:lnTo>
                    <a:pt x="0" y="909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832" y="205703"/>
              <a:ext cx="3984433" cy="590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92"/>
                </a:lnSpc>
                <a:spcBef>
                  <a:spcPct val="0"/>
                </a:spcBef>
              </a:pPr>
              <a:r>
                <a:rPr lang="en-US" sz="2637" b="1" dirty="0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Proposed solution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099951" y="2490546"/>
            <a:ext cx="3709699" cy="462480"/>
            <a:chOff x="0" y="0"/>
            <a:chExt cx="4946265" cy="616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5341" cy="571018"/>
            </a:xfrm>
            <a:custGeom>
              <a:avLst/>
              <a:gdLst/>
              <a:ahLst/>
              <a:cxnLst/>
              <a:rect l="l" t="t" r="r" b="b"/>
              <a:pathLst>
                <a:path w="1045341" h="571018">
                  <a:moveTo>
                    <a:pt x="0" y="0"/>
                  </a:moveTo>
                  <a:lnTo>
                    <a:pt x="1045341" y="0"/>
                  </a:lnTo>
                  <a:lnTo>
                    <a:pt x="1045341" y="571018"/>
                  </a:lnTo>
                  <a:lnTo>
                    <a:pt x="0" y="57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1831" y="36295"/>
              <a:ext cx="3984434" cy="580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92"/>
                </a:lnSpc>
                <a:spcBef>
                  <a:spcPct val="0"/>
                </a:spcBef>
              </a:pPr>
              <a:r>
                <a:rPr lang="en-US" sz="2637" b="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Unique Value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0262" y="3540681"/>
            <a:ext cx="5558190" cy="355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Patients receive multiple medications from </a:t>
            </a:r>
            <a:r>
              <a:rPr lang="en-US" sz="1999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 sources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Drug interactions are difficult to </a:t>
            </a:r>
            <a:r>
              <a:rPr lang="en-US" sz="1999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 manually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data is fragmented across systems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Late detection can cause</a:t>
            </a:r>
            <a:r>
              <a:rPr lang="en-US" sz="1999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harmful medication events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8452" y="3540681"/>
            <a:ext cx="5558190" cy="265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DataDose provides: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drug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safety platform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interaction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scanning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Clinical knowledge </a:t>
            </a:r>
            <a:r>
              <a:rPr lang="en-US" sz="1999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Intelligent 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analytics</a:t>
            </a:r>
          </a:p>
          <a:p>
            <a:pPr algn="l">
              <a:lnSpc>
                <a:spcPts val="3539"/>
              </a:lnSpc>
            </a:pPr>
            <a:endParaRPr lang="en-US" sz="1999" b="1">
              <a:solidFill>
                <a:srgbClr val="3E373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471942" y="3649542"/>
            <a:ext cx="5558190" cy="265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Combines </a:t>
            </a:r>
            <a:r>
              <a:rPr lang="en-US" sz="1999" b="1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Graph Database + </a:t>
            </a:r>
            <a:r>
              <a:rPr lang="en-US" sz="1999" b="1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Big Data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Engineering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doctors, pharmacists, and patients</a:t>
            </a:r>
          </a:p>
          <a:p>
            <a:pPr marL="431799" lvl="1" indent="-215899" algn="l">
              <a:lnSpc>
                <a:spcPts val="3539"/>
              </a:lnSpc>
              <a:buFont typeface="Arial"/>
              <a:buChar char="•"/>
            </a:pPr>
            <a:r>
              <a:rPr lang="en-US" sz="1999" b="1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</a:t>
            </a:r>
            <a:r>
              <a:rPr lang="en-US" sz="1999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analytics pipeline</a:t>
            </a:r>
          </a:p>
          <a:p>
            <a:pPr algn="l">
              <a:lnSpc>
                <a:spcPts val="3539"/>
              </a:lnSpc>
            </a:pPr>
            <a:endParaRPr lang="en-US" sz="1999" b="1">
              <a:solidFill>
                <a:srgbClr val="3E373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65318" y="582920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Idea</a:t>
            </a:r>
          </a:p>
        </p:txBody>
      </p:sp>
      <p:sp>
        <p:nvSpPr>
          <p:cNvPr id="29" name="Freeform 29"/>
          <p:cNvSpPr/>
          <p:nvPr/>
        </p:nvSpPr>
        <p:spPr>
          <a:xfrm>
            <a:off x="9442013" y="6196251"/>
            <a:ext cx="1372278" cy="1094953"/>
          </a:xfrm>
          <a:custGeom>
            <a:avLst/>
            <a:gdLst/>
            <a:ahLst/>
            <a:cxnLst/>
            <a:rect l="l" t="t" r="r" b="b"/>
            <a:pathLst>
              <a:path w="1372278" h="1094953">
                <a:moveTo>
                  <a:pt x="0" y="0"/>
                </a:moveTo>
                <a:lnTo>
                  <a:pt x="1372277" y="0"/>
                </a:lnTo>
                <a:lnTo>
                  <a:pt x="1372277" y="1094953"/>
                </a:lnTo>
                <a:lnTo>
                  <a:pt x="0" y="10949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0214" t="-77860" r="-169896" b="-9795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9156" y="2494352"/>
            <a:ext cx="3965464" cy="6097124"/>
            <a:chOff x="0" y="0"/>
            <a:chExt cx="812800" cy="1249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249726"/>
            </a:xfrm>
            <a:custGeom>
              <a:avLst/>
              <a:gdLst/>
              <a:ahLst/>
              <a:cxnLst/>
              <a:rect l="l" t="t" r="r" b="b"/>
              <a:pathLst>
                <a:path w="812800" h="1249726">
                  <a:moveTo>
                    <a:pt x="44904" y="0"/>
                  </a:moveTo>
                  <a:lnTo>
                    <a:pt x="767896" y="0"/>
                  </a:lnTo>
                  <a:cubicBezTo>
                    <a:pt x="779805" y="0"/>
                    <a:pt x="791227" y="4731"/>
                    <a:pt x="799648" y="13152"/>
                  </a:cubicBezTo>
                  <a:cubicBezTo>
                    <a:pt x="808069" y="21573"/>
                    <a:pt x="812800" y="32995"/>
                    <a:pt x="812800" y="44904"/>
                  </a:cubicBezTo>
                  <a:lnTo>
                    <a:pt x="812800" y="1204822"/>
                  </a:lnTo>
                  <a:cubicBezTo>
                    <a:pt x="812800" y="1216731"/>
                    <a:pt x="808069" y="1228153"/>
                    <a:pt x="799648" y="1236574"/>
                  </a:cubicBezTo>
                  <a:cubicBezTo>
                    <a:pt x="791227" y="1244995"/>
                    <a:pt x="779805" y="1249726"/>
                    <a:pt x="767896" y="1249726"/>
                  </a:cubicBezTo>
                  <a:lnTo>
                    <a:pt x="44904" y="1249726"/>
                  </a:lnTo>
                  <a:cubicBezTo>
                    <a:pt x="32995" y="1249726"/>
                    <a:pt x="21573" y="1244995"/>
                    <a:pt x="13152" y="1236574"/>
                  </a:cubicBezTo>
                  <a:cubicBezTo>
                    <a:pt x="4731" y="1228153"/>
                    <a:pt x="0" y="1216731"/>
                    <a:pt x="0" y="1204822"/>
                  </a:cubicBezTo>
                  <a:lnTo>
                    <a:pt x="0" y="44904"/>
                  </a:lnTo>
                  <a:cubicBezTo>
                    <a:pt x="0" y="32995"/>
                    <a:pt x="4731" y="21573"/>
                    <a:pt x="13152" y="13152"/>
                  </a:cubicBezTo>
                  <a:cubicBezTo>
                    <a:pt x="21573" y="4731"/>
                    <a:pt x="32995" y="0"/>
                    <a:pt x="44904" y="0"/>
                  </a:cubicBezTo>
                  <a:close/>
                </a:path>
              </a:pathLst>
            </a:custGeom>
            <a:blipFill>
              <a:blip r:embed="rId7"/>
              <a:stretch>
                <a:fillRect l="-74" r="-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65318" y="532141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Wireframe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518605" y="1851090"/>
            <a:ext cx="8356094" cy="3982809"/>
            <a:chOff x="0" y="0"/>
            <a:chExt cx="2621975" cy="124972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21975" cy="1249726"/>
            </a:xfrm>
            <a:custGeom>
              <a:avLst/>
              <a:gdLst/>
              <a:ahLst/>
              <a:cxnLst/>
              <a:rect l="l" t="t" r="r" b="b"/>
              <a:pathLst>
                <a:path w="2621975" h="1249726">
                  <a:moveTo>
                    <a:pt x="21309" y="0"/>
                  </a:moveTo>
                  <a:lnTo>
                    <a:pt x="2600666" y="0"/>
                  </a:lnTo>
                  <a:cubicBezTo>
                    <a:pt x="2612435" y="0"/>
                    <a:pt x="2621975" y="9541"/>
                    <a:pt x="2621975" y="21309"/>
                  </a:cubicBezTo>
                  <a:lnTo>
                    <a:pt x="2621975" y="1228416"/>
                  </a:lnTo>
                  <a:cubicBezTo>
                    <a:pt x="2621975" y="1234068"/>
                    <a:pt x="2619730" y="1239488"/>
                    <a:pt x="2615734" y="1243484"/>
                  </a:cubicBezTo>
                  <a:cubicBezTo>
                    <a:pt x="2611738" y="1247481"/>
                    <a:pt x="2606317" y="1249726"/>
                    <a:pt x="2600666" y="1249726"/>
                  </a:cubicBezTo>
                  <a:lnTo>
                    <a:pt x="21309" y="1249726"/>
                  </a:lnTo>
                  <a:cubicBezTo>
                    <a:pt x="9541" y="1249726"/>
                    <a:pt x="0" y="1240185"/>
                    <a:pt x="0" y="1228416"/>
                  </a:cubicBezTo>
                  <a:lnTo>
                    <a:pt x="0" y="21309"/>
                  </a:lnTo>
                  <a:cubicBezTo>
                    <a:pt x="0" y="9541"/>
                    <a:pt x="9541" y="0"/>
                    <a:pt x="21309" y="0"/>
                  </a:cubicBezTo>
                  <a:close/>
                </a:path>
              </a:pathLst>
            </a:custGeom>
            <a:blipFill>
              <a:blip r:embed="rId8"/>
              <a:stretch>
                <a:fillRect t="-454" b="-66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11183" y="1531246"/>
            <a:ext cx="3590858" cy="4622496"/>
            <a:chOff x="0" y="0"/>
            <a:chExt cx="970815" cy="12497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0815" cy="1249726"/>
            </a:xfrm>
            <a:custGeom>
              <a:avLst/>
              <a:gdLst/>
              <a:ahLst/>
              <a:cxnLst/>
              <a:rect l="l" t="t" r="r" b="b"/>
              <a:pathLst>
                <a:path w="970815" h="1249726">
                  <a:moveTo>
                    <a:pt x="49588" y="0"/>
                  </a:moveTo>
                  <a:lnTo>
                    <a:pt x="921227" y="0"/>
                  </a:lnTo>
                  <a:cubicBezTo>
                    <a:pt x="934379" y="0"/>
                    <a:pt x="946991" y="5224"/>
                    <a:pt x="956291" y="14524"/>
                  </a:cubicBezTo>
                  <a:cubicBezTo>
                    <a:pt x="965591" y="23824"/>
                    <a:pt x="970815" y="36437"/>
                    <a:pt x="970815" y="49588"/>
                  </a:cubicBezTo>
                  <a:lnTo>
                    <a:pt x="970815" y="1200138"/>
                  </a:lnTo>
                  <a:cubicBezTo>
                    <a:pt x="970815" y="1213289"/>
                    <a:pt x="965591" y="1225902"/>
                    <a:pt x="956291" y="1235202"/>
                  </a:cubicBezTo>
                  <a:cubicBezTo>
                    <a:pt x="946991" y="1244501"/>
                    <a:pt x="934379" y="1249726"/>
                    <a:pt x="921227" y="1249726"/>
                  </a:cubicBezTo>
                  <a:lnTo>
                    <a:pt x="49588" y="1249726"/>
                  </a:lnTo>
                  <a:cubicBezTo>
                    <a:pt x="36437" y="1249726"/>
                    <a:pt x="23824" y="1244501"/>
                    <a:pt x="14524" y="1235202"/>
                  </a:cubicBezTo>
                  <a:cubicBezTo>
                    <a:pt x="5224" y="1225902"/>
                    <a:pt x="0" y="1213289"/>
                    <a:pt x="0" y="1200138"/>
                  </a:cubicBezTo>
                  <a:lnTo>
                    <a:pt x="0" y="49588"/>
                  </a:lnTo>
                  <a:cubicBezTo>
                    <a:pt x="0" y="36437"/>
                    <a:pt x="5224" y="23824"/>
                    <a:pt x="14524" y="14524"/>
                  </a:cubicBezTo>
                  <a:cubicBezTo>
                    <a:pt x="23824" y="5224"/>
                    <a:pt x="36437" y="0"/>
                    <a:pt x="49588" y="0"/>
                  </a:cubicBezTo>
                  <a:close/>
                </a:path>
              </a:pathLst>
            </a:custGeom>
            <a:blipFill>
              <a:blip r:embed="rId9"/>
              <a:stretch>
                <a:fillRect l="-6218" r="-621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649746" y="6157748"/>
            <a:ext cx="6315053" cy="3182849"/>
            <a:chOff x="0" y="0"/>
            <a:chExt cx="2479566" cy="12497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79566" cy="1249726"/>
            </a:xfrm>
            <a:custGeom>
              <a:avLst/>
              <a:gdLst/>
              <a:ahLst/>
              <a:cxnLst/>
              <a:rect l="l" t="t" r="r" b="b"/>
              <a:pathLst>
                <a:path w="2479566" h="1249726">
                  <a:moveTo>
                    <a:pt x="28197" y="0"/>
                  </a:moveTo>
                  <a:lnTo>
                    <a:pt x="2451369" y="0"/>
                  </a:lnTo>
                  <a:cubicBezTo>
                    <a:pt x="2466942" y="0"/>
                    <a:pt x="2479566" y="12624"/>
                    <a:pt x="2479566" y="28197"/>
                  </a:cubicBezTo>
                  <a:lnTo>
                    <a:pt x="2479566" y="1221529"/>
                  </a:lnTo>
                  <a:cubicBezTo>
                    <a:pt x="2479566" y="1229007"/>
                    <a:pt x="2476595" y="1236179"/>
                    <a:pt x="2471307" y="1241467"/>
                  </a:cubicBezTo>
                  <a:cubicBezTo>
                    <a:pt x="2466019" y="1246755"/>
                    <a:pt x="2458847" y="1249726"/>
                    <a:pt x="2451369" y="1249726"/>
                  </a:cubicBezTo>
                  <a:lnTo>
                    <a:pt x="28197" y="1249726"/>
                  </a:lnTo>
                  <a:cubicBezTo>
                    <a:pt x="12624" y="1249726"/>
                    <a:pt x="0" y="1237102"/>
                    <a:pt x="0" y="1221529"/>
                  </a:cubicBezTo>
                  <a:lnTo>
                    <a:pt x="0" y="28197"/>
                  </a:lnTo>
                  <a:cubicBezTo>
                    <a:pt x="0" y="12624"/>
                    <a:pt x="12624" y="0"/>
                    <a:pt x="28197" y="0"/>
                  </a:cubicBezTo>
                  <a:close/>
                </a:path>
              </a:pathLst>
            </a:custGeom>
            <a:blipFill>
              <a:blip r:embed="rId10"/>
              <a:stretch>
                <a:fillRect l="-275" r="-2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484664" y="7682498"/>
            <a:ext cx="4204698" cy="54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sz="3223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Physician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85016" y="1603565"/>
            <a:ext cx="8356094" cy="3982809"/>
            <a:chOff x="0" y="0"/>
            <a:chExt cx="2621975" cy="1249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21975" cy="1249726"/>
            </a:xfrm>
            <a:custGeom>
              <a:avLst/>
              <a:gdLst/>
              <a:ahLst/>
              <a:cxnLst/>
              <a:rect l="l" t="t" r="r" b="b"/>
              <a:pathLst>
                <a:path w="2621975" h="1249726">
                  <a:moveTo>
                    <a:pt x="21309" y="0"/>
                  </a:moveTo>
                  <a:lnTo>
                    <a:pt x="2600666" y="0"/>
                  </a:lnTo>
                  <a:cubicBezTo>
                    <a:pt x="2612435" y="0"/>
                    <a:pt x="2621975" y="9541"/>
                    <a:pt x="2621975" y="21309"/>
                  </a:cubicBezTo>
                  <a:lnTo>
                    <a:pt x="2621975" y="1228416"/>
                  </a:lnTo>
                  <a:cubicBezTo>
                    <a:pt x="2621975" y="1234068"/>
                    <a:pt x="2619730" y="1239488"/>
                    <a:pt x="2615734" y="1243484"/>
                  </a:cubicBezTo>
                  <a:cubicBezTo>
                    <a:pt x="2611738" y="1247481"/>
                    <a:pt x="2606317" y="1249726"/>
                    <a:pt x="2600666" y="1249726"/>
                  </a:cubicBezTo>
                  <a:lnTo>
                    <a:pt x="21309" y="1249726"/>
                  </a:lnTo>
                  <a:cubicBezTo>
                    <a:pt x="9541" y="1249726"/>
                    <a:pt x="0" y="1240185"/>
                    <a:pt x="0" y="1228416"/>
                  </a:cubicBezTo>
                  <a:lnTo>
                    <a:pt x="0" y="21309"/>
                  </a:lnTo>
                  <a:cubicBezTo>
                    <a:pt x="0" y="9541"/>
                    <a:pt x="9541" y="0"/>
                    <a:pt x="21309" y="0"/>
                  </a:cubicBezTo>
                  <a:close/>
                </a:path>
              </a:pathLst>
            </a:custGeom>
            <a:blipFill>
              <a:blip r:embed="rId7"/>
              <a:stretch>
                <a:fillRect b="-70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2509" y="3402239"/>
            <a:ext cx="7902242" cy="3982809"/>
            <a:chOff x="0" y="0"/>
            <a:chExt cx="2479566" cy="124972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79566" cy="1249726"/>
            </a:xfrm>
            <a:custGeom>
              <a:avLst/>
              <a:gdLst/>
              <a:ahLst/>
              <a:cxnLst/>
              <a:rect l="l" t="t" r="r" b="b"/>
              <a:pathLst>
                <a:path w="2479566" h="1249726">
                  <a:moveTo>
                    <a:pt x="22533" y="0"/>
                  </a:moveTo>
                  <a:lnTo>
                    <a:pt x="2457033" y="0"/>
                  </a:lnTo>
                  <a:cubicBezTo>
                    <a:pt x="2469477" y="0"/>
                    <a:pt x="2479566" y="10089"/>
                    <a:pt x="2479566" y="22533"/>
                  </a:cubicBezTo>
                  <a:lnTo>
                    <a:pt x="2479566" y="1227192"/>
                  </a:lnTo>
                  <a:cubicBezTo>
                    <a:pt x="2479566" y="1233169"/>
                    <a:pt x="2477192" y="1238900"/>
                    <a:pt x="2472966" y="1243126"/>
                  </a:cubicBezTo>
                  <a:cubicBezTo>
                    <a:pt x="2468740" y="1247352"/>
                    <a:pt x="2463009" y="1249726"/>
                    <a:pt x="2457033" y="1249726"/>
                  </a:cubicBezTo>
                  <a:lnTo>
                    <a:pt x="22533" y="1249726"/>
                  </a:lnTo>
                  <a:cubicBezTo>
                    <a:pt x="10089" y="1249726"/>
                    <a:pt x="0" y="1239637"/>
                    <a:pt x="0" y="1227192"/>
                  </a:cubicBezTo>
                  <a:lnTo>
                    <a:pt x="0" y="22533"/>
                  </a:lnTo>
                  <a:cubicBezTo>
                    <a:pt x="0" y="10089"/>
                    <a:pt x="10089" y="0"/>
                    <a:pt x="22533" y="0"/>
                  </a:cubicBezTo>
                  <a:close/>
                </a:path>
              </a:pathLst>
            </a:custGeom>
            <a:blipFill>
              <a:blip r:embed="rId8"/>
              <a:stretch>
                <a:fillRect l="-2501" r="-25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565318" y="535295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Wireframe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87233" y="6237165"/>
            <a:ext cx="4551660" cy="54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sz="3223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Pharmacist Dashboard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28372" y="7977251"/>
            <a:ext cx="3730517" cy="54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sz="3223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85016" y="1603565"/>
            <a:ext cx="8356094" cy="3982809"/>
            <a:chOff x="0" y="0"/>
            <a:chExt cx="2621975" cy="1249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21975" cy="1249726"/>
            </a:xfrm>
            <a:custGeom>
              <a:avLst/>
              <a:gdLst/>
              <a:ahLst/>
              <a:cxnLst/>
              <a:rect l="l" t="t" r="r" b="b"/>
              <a:pathLst>
                <a:path w="2621975" h="1249726">
                  <a:moveTo>
                    <a:pt x="21309" y="0"/>
                  </a:moveTo>
                  <a:lnTo>
                    <a:pt x="2600666" y="0"/>
                  </a:lnTo>
                  <a:cubicBezTo>
                    <a:pt x="2612435" y="0"/>
                    <a:pt x="2621975" y="9541"/>
                    <a:pt x="2621975" y="21309"/>
                  </a:cubicBezTo>
                  <a:lnTo>
                    <a:pt x="2621975" y="1228416"/>
                  </a:lnTo>
                  <a:cubicBezTo>
                    <a:pt x="2621975" y="1234068"/>
                    <a:pt x="2619730" y="1239488"/>
                    <a:pt x="2615734" y="1243484"/>
                  </a:cubicBezTo>
                  <a:cubicBezTo>
                    <a:pt x="2611738" y="1247481"/>
                    <a:pt x="2606317" y="1249726"/>
                    <a:pt x="2600666" y="1249726"/>
                  </a:cubicBezTo>
                  <a:lnTo>
                    <a:pt x="21309" y="1249726"/>
                  </a:lnTo>
                  <a:cubicBezTo>
                    <a:pt x="9541" y="1249726"/>
                    <a:pt x="0" y="1240185"/>
                    <a:pt x="0" y="1228416"/>
                  </a:cubicBezTo>
                  <a:lnTo>
                    <a:pt x="0" y="21309"/>
                  </a:lnTo>
                  <a:cubicBezTo>
                    <a:pt x="0" y="9541"/>
                    <a:pt x="9541" y="0"/>
                    <a:pt x="21309" y="0"/>
                  </a:cubicBezTo>
                  <a:close/>
                </a:path>
              </a:pathLst>
            </a:custGeom>
            <a:blipFill>
              <a:blip r:embed="rId7"/>
              <a:stretch>
                <a:fillRect t="-3500" b="-35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2509" y="3402239"/>
            <a:ext cx="7902242" cy="3982809"/>
            <a:chOff x="0" y="0"/>
            <a:chExt cx="2479566" cy="124972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79566" cy="1249726"/>
            </a:xfrm>
            <a:custGeom>
              <a:avLst/>
              <a:gdLst/>
              <a:ahLst/>
              <a:cxnLst/>
              <a:rect l="l" t="t" r="r" b="b"/>
              <a:pathLst>
                <a:path w="2479566" h="1249726">
                  <a:moveTo>
                    <a:pt x="22533" y="0"/>
                  </a:moveTo>
                  <a:lnTo>
                    <a:pt x="2457033" y="0"/>
                  </a:lnTo>
                  <a:cubicBezTo>
                    <a:pt x="2469477" y="0"/>
                    <a:pt x="2479566" y="10089"/>
                    <a:pt x="2479566" y="22533"/>
                  </a:cubicBezTo>
                  <a:lnTo>
                    <a:pt x="2479566" y="1227192"/>
                  </a:lnTo>
                  <a:cubicBezTo>
                    <a:pt x="2479566" y="1233169"/>
                    <a:pt x="2477192" y="1238900"/>
                    <a:pt x="2472966" y="1243126"/>
                  </a:cubicBezTo>
                  <a:cubicBezTo>
                    <a:pt x="2468740" y="1247352"/>
                    <a:pt x="2463009" y="1249726"/>
                    <a:pt x="2457033" y="1249726"/>
                  </a:cubicBezTo>
                  <a:lnTo>
                    <a:pt x="22533" y="1249726"/>
                  </a:lnTo>
                  <a:cubicBezTo>
                    <a:pt x="10089" y="1249726"/>
                    <a:pt x="0" y="1239637"/>
                    <a:pt x="0" y="1227192"/>
                  </a:cubicBezTo>
                  <a:lnTo>
                    <a:pt x="0" y="22533"/>
                  </a:lnTo>
                  <a:cubicBezTo>
                    <a:pt x="0" y="10089"/>
                    <a:pt x="10089" y="0"/>
                    <a:pt x="22533" y="0"/>
                  </a:cubicBezTo>
                  <a:close/>
                </a:path>
              </a:pathLst>
            </a:custGeom>
            <a:blipFill>
              <a:blip r:embed="rId8"/>
              <a:stretch>
                <a:fillRect t="-594" b="-59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68833" y="6237165"/>
            <a:ext cx="4955513" cy="549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sz="3223" b="1" dirty="0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Hospital Administrator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13136" y="7977251"/>
            <a:ext cx="4521064" cy="549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2"/>
              </a:lnSpc>
              <a:spcBef>
                <a:spcPct val="0"/>
              </a:spcBef>
            </a:pPr>
            <a:r>
              <a:rPr lang="en-US" sz="3223" b="1" dirty="0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Super Admin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5318" y="535295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Wireframe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2236700" y="1603565"/>
            <a:ext cx="13751789" cy="7463870"/>
          </a:xfrm>
          <a:custGeom>
            <a:avLst/>
            <a:gdLst/>
            <a:ahLst/>
            <a:cxnLst/>
            <a:rect l="l" t="t" r="r" b="b"/>
            <a:pathLst>
              <a:path w="13751789" h="7463870">
                <a:moveTo>
                  <a:pt x="0" y="0"/>
                </a:moveTo>
                <a:lnTo>
                  <a:pt x="13751789" y="0"/>
                </a:lnTo>
                <a:lnTo>
                  <a:pt x="13751789" y="7463870"/>
                </a:lnTo>
                <a:lnTo>
                  <a:pt x="0" y="7463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96" t="-4266" r="-2866" b="-54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565318" y="535295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00224" y="1531246"/>
            <a:ext cx="13164430" cy="7266672"/>
            <a:chOff x="0" y="0"/>
            <a:chExt cx="2793540" cy="15420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93540" cy="1542014"/>
            </a:xfrm>
            <a:custGeom>
              <a:avLst/>
              <a:gdLst/>
              <a:ahLst/>
              <a:cxnLst/>
              <a:rect l="l" t="t" r="r" b="b"/>
              <a:pathLst>
                <a:path w="2793540" h="1542014">
                  <a:moveTo>
                    <a:pt x="39990" y="0"/>
                  </a:moveTo>
                  <a:lnTo>
                    <a:pt x="2753549" y="0"/>
                  </a:lnTo>
                  <a:cubicBezTo>
                    <a:pt x="2764155" y="0"/>
                    <a:pt x="2774327" y="4213"/>
                    <a:pt x="2781827" y="11713"/>
                  </a:cubicBezTo>
                  <a:cubicBezTo>
                    <a:pt x="2789326" y="19213"/>
                    <a:pt x="2793540" y="29384"/>
                    <a:pt x="2793540" y="39990"/>
                  </a:cubicBezTo>
                  <a:lnTo>
                    <a:pt x="2793540" y="1502024"/>
                  </a:lnTo>
                  <a:cubicBezTo>
                    <a:pt x="2793540" y="1524110"/>
                    <a:pt x="2775635" y="1542014"/>
                    <a:pt x="2753549" y="1542014"/>
                  </a:cubicBezTo>
                  <a:lnTo>
                    <a:pt x="39990" y="1542014"/>
                  </a:lnTo>
                  <a:cubicBezTo>
                    <a:pt x="29384" y="1542014"/>
                    <a:pt x="19213" y="1537801"/>
                    <a:pt x="11713" y="1530301"/>
                  </a:cubicBezTo>
                  <a:cubicBezTo>
                    <a:pt x="4213" y="1522801"/>
                    <a:pt x="0" y="1512630"/>
                    <a:pt x="0" y="1502024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blipFill>
              <a:blip r:embed="rId7"/>
              <a:stretch>
                <a:fillRect l="-2475" t="-4698" r="-3182" b="-31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65318" y="535295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065514" y="2073376"/>
            <a:ext cx="8442817" cy="3219708"/>
            <a:chOff x="0" y="0"/>
            <a:chExt cx="11257089" cy="4292943"/>
          </a:xfrm>
        </p:grpSpPr>
        <p:grpSp>
          <p:nvGrpSpPr>
            <p:cNvPr id="18" name="Group 18"/>
            <p:cNvGrpSpPr/>
            <p:nvPr/>
          </p:nvGrpSpPr>
          <p:grpSpPr>
            <a:xfrm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08590" cy="847989"/>
              </a:xfrm>
              <a:custGeom>
                <a:avLst/>
                <a:gdLst/>
                <a:ahLst/>
                <a:cxnLst/>
                <a:rect l="l" t="t" r="r" b="b"/>
                <a:pathLst>
                  <a:path w="1408590" h="847989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9024337" y="257898"/>
              <a:ext cx="971136" cy="1137495"/>
            </a:xfrm>
            <a:custGeom>
              <a:avLst/>
              <a:gdLst/>
              <a:ahLst/>
              <a:cxnLst/>
              <a:rect l="l" t="t" r="r" b="b"/>
              <a:pathLst>
                <a:path w="971136" h="1137495">
                  <a:moveTo>
                    <a:pt x="0" y="0"/>
                  </a:moveTo>
                  <a:lnTo>
                    <a:pt x="971137" y="0"/>
                  </a:lnTo>
                  <a:lnTo>
                    <a:pt x="971137" y="1137495"/>
                  </a:lnTo>
                  <a:lnTo>
                    <a:pt x="0" y="1137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53338" y="1452598"/>
              <a:ext cx="7403752" cy="1830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Patient EHR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Prescription creation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Risk analysis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40729"/>
              <a:ext cx="9995474" cy="705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sz="322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Physicians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38839" y="2073376"/>
            <a:ext cx="8442817" cy="3219708"/>
            <a:chOff x="0" y="0"/>
            <a:chExt cx="11257089" cy="4292943"/>
          </a:xfrm>
        </p:grpSpPr>
        <p:grpSp>
          <p:nvGrpSpPr>
            <p:cNvPr id="25" name="Group 25"/>
            <p:cNvGrpSpPr/>
            <p:nvPr/>
          </p:nvGrpSpPr>
          <p:grpSpPr>
            <a:xfrm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08590" cy="847989"/>
              </a:xfrm>
              <a:custGeom>
                <a:avLst/>
                <a:gdLst/>
                <a:ahLst/>
                <a:cxnLst/>
                <a:rect l="l" t="t" r="r" b="b"/>
                <a:pathLst>
                  <a:path w="1408590" h="847989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853338" y="1452598"/>
              <a:ext cx="7403752" cy="247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Prescription scanner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Drug interaction checker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Safety alerts</a:t>
              </a:r>
            </a:p>
            <a:p>
              <a:pPr algn="l">
                <a:lnSpc>
                  <a:spcPts val="3846"/>
                </a:lnSpc>
              </a:pPr>
              <a:endParaRPr lang="en-US" sz="1972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440729"/>
              <a:ext cx="9995474" cy="705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sz="322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Pharmacists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836536" y="182947"/>
              <a:ext cx="1221187" cy="1128072"/>
            </a:xfrm>
            <a:custGeom>
              <a:avLst/>
              <a:gdLst/>
              <a:ahLst/>
              <a:cxnLst/>
              <a:rect l="l" t="t" r="r" b="b"/>
              <a:pathLst>
                <a:path w="1221187" h="1128072">
                  <a:moveTo>
                    <a:pt x="0" y="0"/>
                  </a:moveTo>
                  <a:lnTo>
                    <a:pt x="1221187" y="0"/>
                  </a:lnTo>
                  <a:lnTo>
                    <a:pt x="1221187" y="1128071"/>
                  </a:lnTo>
                  <a:lnTo>
                    <a:pt x="0" y="1128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-1065514" y="5851394"/>
            <a:ext cx="8442817" cy="3219708"/>
            <a:chOff x="0" y="0"/>
            <a:chExt cx="11257089" cy="4292943"/>
          </a:xfrm>
        </p:grpSpPr>
        <p:grpSp>
          <p:nvGrpSpPr>
            <p:cNvPr id="32" name="Group 32"/>
            <p:cNvGrpSpPr/>
            <p:nvPr/>
          </p:nvGrpSpPr>
          <p:grpSpPr>
            <a:xfrm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408590" cy="847989"/>
              </a:xfrm>
              <a:custGeom>
                <a:avLst/>
                <a:gdLst/>
                <a:ahLst/>
                <a:cxnLst/>
                <a:rect l="l" t="t" r="r" b="b"/>
                <a:pathLst>
                  <a:path w="1408590" h="847989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853338" y="1452598"/>
              <a:ext cx="7403752" cy="1830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Medication tracking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assistant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Health insights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440729"/>
              <a:ext cx="9995474" cy="705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sz="322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Patients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5698175" y="6064608"/>
            <a:ext cx="731702" cy="845898"/>
          </a:xfrm>
          <a:custGeom>
            <a:avLst/>
            <a:gdLst/>
            <a:ahLst/>
            <a:cxnLst/>
            <a:rect l="l" t="t" r="r" b="b"/>
            <a:pathLst>
              <a:path w="731702" h="845898">
                <a:moveTo>
                  <a:pt x="0" y="0"/>
                </a:moveTo>
                <a:lnTo>
                  <a:pt x="731702" y="0"/>
                </a:lnTo>
                <a:lnTo>
                  <a:pt x="731702" y="845898"/>
                </a:lnTo>
                <a:lnTo>
                  <a:pt x="0" y="8458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8" name="Group 38"/>
          <p:cNvGrpSpPr/>
          <p:nvPr/>
        </p:nvGrpSpPr>
        <p:grpSpPr>
          <a:xfrm>
            <a:off x="9338839" y="6064608"/>
            <a:ext cx="8442817" cy="3219708"/>
            <a:chOff x="0" y="0"/>
            <a:chExt cx="11257089" cy="4292943"/>
          </a:xfrm>
        </p:grpSpPr>
        <p:grpSp>
          <p:nvGrpSpPr>
            <p:cNvPr id="39" name="Group 39"/>
            <p:cNvGrpSpPr/>
            <p:nvPr/>
          </p:nvGrpSpPr>
          <p:grpSpPr>
            <a:xfrm>
              <a:off x="3064438" y="0"/>
              <a:ext cx="7130986" cy="4292943"/>
              <a:chOff x="0" y="0"/>
              <a:chExt cx="1408590" cy="84798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408590" cy="847989"/>
              </a:xfrm>
              <a:custGeom>
                <a:avLst/>
                <a:gdLst/>
                <a:ahLst/>
                <a:cxnLst/>
                <a:rect l="l" t="t" r="r" b="b"/>
                <a:pathLst>
                  <a:path w="1408590" h="847989">
                    <a:moveTo>
                      <a:pt x="31846" y="0"/>
                    </a:moveTo>
                    <a:lnTo>
                      <a:pt x="1376743" y="0"/>
                    </a:lnTo>
                    <a:cubicBezTo>
                      <a:pt x="1385190" y="0"/>
                      <a:pt x="1393290" y="3355"/>
                      <a:pt x="1399262" y="9328"/>
                    </a:cubicBezTo>
                    <a:cubicBezTo>
                      <a:pt x="1405235" y="15300"/>
                      <a:pt x="1408590" y="23400"/>
                      <a:pt x="1408590" y="31846"/>
                    </a:cubicBezTo>
                    <a:lnTo>
                      <a:pt x="1408590" y="816142"/>
                    </a:lnTo>
                    <a:cubicBezTo>
                      <a:pt x="1408590" y="824589"/>
                      <a:pt x="1405235" y="832689"/>
                      <a:pt x="1399262" y="838661"/>
                    </a:cubicBezTo>
                    <a:cubicBezTo>
                      <a:pt x="1393290" y="844634"/>
                      <a:pt x="1385190" y="847989"/>
                      <a:pt x="1376743" y="847989"/>
                    </a:cubicBezTo>
                    <a:lnTo>
                      <a:pt x="31846" y="847989"/>
                    </a:lnTo>
                    <a:cubicBezTo>
                      <a:pt x="23400" y="847989"/>
                      <a:pt x="15300" y="844634"/>
                      <a:pt x="9328" y="838661"/>
                    </a:cubicBezTo>
                    <a:cubicBezTo>
                      <a:pt x="3355" y="832689"/>
                      <a:pt x="0" y="824589"/>
                      <a:pt x="0" y="816142"/>
                    </a:cubicBezTo>
                    <a:lnTo>
                      <a:pt x="0" y="31846"/>
                    </a:lnTo>
                    <a:cubicBezTo>
                      <a:pt x="0" y="23400"/>
                      <a:pt x="3355" y="15300"/>
                      <a:pt x="9328" y="9328"/>
                    </a:cubicBezTo>
                    <a:cubicBezTo>
                      <a:pt x="15300" y="3355"/>
                      <a:pt x="23400" y="0"/>
                      <a:pt x="31846" y="0"/>
                    </a:cubicBez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408590" cy="886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853338" y="1452598"/>
              <a:ext cx="7403752" cy="1184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Analytics</a:t>
              </a:r>
            </a:p>
            <a:p>
              <a:pPr marL="425900" lvl="1" indent="-212950" algn="l">
                <a:lnSpc>
                  <a:spcPts val="3846"/>
                </a:lnSpc>
                <a:buFont typeface="Arial"/>
                <a:buChar char="•"/>
              </a:pPr>
              <a:r>
                <a:rPr lang="en-US" sz="1972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 management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440729"/>
              <a:ext cx="9995474" cy="705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13"/>
                </a:lnSpc>
                <a:spcBef>
                  <a:spcPct val="0"/>
                </a:spcBef>
              </a:pPr>
              <a:r>
                <a:rPr lang="en-US" sz="322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Admin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16189237" y="6326524"/>
            <a:ext cx="737463" cy="784535"/>
          </a:xfrm>
          <a:custGeom>
            <a:avLst/>
            <a:gdLst/>
            <a:ahLst/>
            <a:cxnLst/>
            <a:rect l="l" t="t" r="r" b="b"/>
            <a:pathLst>
              <a:path w="737463" h="784535">
                <a:moveTo>
                  <a:pt x="0" y="0"/>
                </a:moveTo>
                <a:lnTo>
                  <a:pt x="737462" y="0"/>
                </a:lnTo>
                <a:lnTo>
                  <a:pt x="737462" y="784535"/>
                </a:lnTo>
                <a:lnTo>
                  <a:pt x="0" y="7845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5565318" y="582920"/>
            <a:ext cx="7157365" cy="720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 Users + Features</a:t>
            </a:r>
            <a:endParaRPr lang="en-US" sz="4248" b="1" dirty="0">
              <a:solidFill>
                <a:srgbClr val="2659BF"/>
              </a:solidFill>
              <a:latin typeface="Canva Sans Bold"/>
              <a:ea typeface="Canva Sans Bold"/>
              <a:cs typeface="Canva Sans Bold"/>
              <a:sym typeface="Canva Sans Bold"/>
              <a:hlinkClick r:id="rId15" tooltip="https://canva.link/9j74jyak29oh6tw"/>
            </a:endParaRPr>
          </a:p>
        </p:txBody>
      </p:sp>
      <p:sp>
        <p:nvSpPr>
          <p:cNvPr id="46" name="Freeform 46"/>
          <p:cNvSpPr/>
          <p:nvPr/>
        </p:nvSpPr>
        <p:spPr>
          <a:xfrm rot="-1158893" flipH="1">
            <a:off x="10131755" y="6595606"/>
            <a:ext cx="970033" cy="1861064"/>
          </a:xfrm>
          <a:custGeom>
            <a:avLst/>
            <a:gdLst/>
            <a:ahLst/>
            <a:cxnLst/>
            <a:rect l="l" t="t" r="r" b="b"/>
            <a:pathLst>
              <a:path w="970033" h="1861064">
                <a:moveTo>
                  <a:pt x="970033" y="0"/>
                </a:moveTo>
                <a:lnTo>
                  <a:pt x="0" y="0"/>
                </a:lnTo>
                <a:lnTo>
                  <a:pt x="0" y="1861064"/>
                </a:lnTo>
                <a:lnTo>
                  <a:pt x="970033" y="1861064"/>
                </a:lnTo>
                <a:lnTo>
                  <a:pt x="970033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638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 rot="-1746861" flipV="1">
            <a:off x="7432508" y="3164021"/>
            <a:ext cx="970033" cy="1861064"/>
          </a:xfrm>
          <a:custGeom>
            <a:avLst/>
            <a:gdLst/>
            <a:ahLst/>
            <a:cxnLst/>
            <a:rect l="l" t="t" r="r" b="b"/>
            <a:pathLst>
              <a:path w="970033" h="1861064">
                <a:moveTo>
                  <a:pt x="0" y="1861064"/>
                </a:moveTo>
                <a:lnTo>
                  <a:pt x="970033" y="1861064"/>
                </a:lnTo>
                <a:lnTo>
                  <a:pt x="970033" y="0"/>
                </a:lnTo>
                <a:lnTo>
                  <a:pt x="0" y="0"/>
                </a:lnTo>
                <a:lnTo>
                  <a:pt x="0" y="186106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638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 rot="1393598" flipH="1" flipV="1">
            <a:off x="10178935" y="3161465"/>
            <a:ext cx="970033" cy="1861064"/>
          </a:xfrm>
          <a:custGeom>
            <a:avLst/>
            <a:gdLst/>
            <a:ahLst/>
            <a:cxnLst/>
            <a:rect l="l" t="t" r="r" b="b"/>
            <a:pathLst>
              <a:path w="970033" h="1861064">
                <a:moveTo>
                  <a:pt x="970033" y="1861064"/>
                </a:moveTo>
                <a:lnTo>
                  <a:pt x="0" y="1861064"/>
                </a:lnTo>
                <a:lnTo>
                  <a:pt x="0" y="0"/>
                </a:lnTo>
                <a:lnTo>
                  <a:pt x="970033" y="0"/>
                </a:lnTo>
                <a:lnTo>
                  <a:pt x="970033" y="186106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638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 rot="986561">
            <a:off x="7655557" y="6562926"/>
            <a:ext cx="970033" cy="1861064"/>
          </a:xfrm>
          <a:custGeom>
            <a:avLst/>
            <a:gdLst/>
            <a:ahLst/>
            <a:cxnLst/>
            <a:rect l="l" t="t" r="r" b="b"/>
            <a:pathLst>
              <a:path w="970033" h="1861064">
                <a:moveTo>
                  <a:pt x="0" y="0"/>
                </a:moveTo>
                <a:lnTo>
                  <a:pt x="970034" y="0"/>
                </a:lnTo>
                <a:lnTo>
                  <a:pt x="970034" y="1861064"/>
                </a:lnTo>
                <a:lnTo>
                  <a:pt x="0" y="18610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638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8150099" y="5342613"/>
            <a:ext cx="2745138" cy="721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D8B1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2832229" y="1948647"/>
            <a:ext cx="1959954" cy="1881556"/>
          </a:xfrm>
          <a:custGeom>
            <a:avLst/>
            <a:gdLst/>
            <a:ahLst/>
            <a:cxnLst/>
            <a:rect l="l" t="t" r="r" b="b"/>
            <a:pathLst>
              <a:path w="1959954" h="1881556">
                <a:moveTo>
                  <a:pt x="0" y="0"/>
                </a:moveTo>
                <a:lnTo>
                  <a:pt x="1959954" y="0"/>
                </a:lnTo>
                <a:lnTo>
                  <a:pt x="1959954" y="1881556"/>
                </a:lnTo>
                <a:lnTo>
                  <a:pt x="0" y="18815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168988" y="1791198"/>
            <a:ext cx="2238424" cy="2196453"/>
          </a:xfrm>
          <a:custGeom>
            <a:avLst/>
            <a:gdLst/>
            <a:ahLst/>
            <a:cxnLst/>
            <a:rect l="l" t="t" r="r" b="b"/>
            <a:pathLst>
              <a:path w="2238424" h="2196453">
                <a:moveTo>
                  <a:pt x="0" y="0"/>
                </a:moveTo>
                <a:lnTo>
                  <a:pt x="2238424" y="0"/>
                </a:lnTo>
                <a:lnTo>
                  <a:pt x="2238424" y="2196454"/>
                </a:lnTo>
                <a:lnTo>
                  <a:pt x="0" y="219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2583659" y="5446114"/>
            <a:ext cx="2457095" cy="2420239"/>
          </a:xfrm>
          <a:custGeom>
            <a:avLst/>
            <a:gdLst/>
            <a:ahLst/>
            <a:cxnLst/>
            <a:rect l="l" t="t" r="r" b="b"/>
            <a:pathLst>
              <a:path w="2457095" h="2420239">
                <a:moveTo>
                  <a:pt x="0" y="0"/>
                </a:moveTo>
                <a:lnTo>
                  <a:pt x="2457095" y="0"/>
                </a:lnTo>
                <a:lnTo>
                  <a:pt x="2457095" y="2420238"/>
                </a:lnTo>
                <a:lnTo>
                  <a:pt x="0" y="2420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197563" y="5575929"/>
            <a:ext cx="2393105" cy="2294390"/>
          </a:xfrm>
          <a:custGeom>
            <a:avLst/>
            <a:gdLst/>
            <a:ahLst/>
            <a:cxnLst/>
            <a:rect l="l" t="t" r="r" b="b"/>
            <a:pathLst>
              <a:path w="2393105" h="2294390">
                <a:moveTo>
                  <a:pt x="0" y="0"/>
                </a:moveTo>
                <a:lnTo>
                  <a:pt x="2393105" y="0"/>
                </a:lnTo>
                <a:lnTo>
                  <a:pt x="2393105" y="2294389"/>
                </a:lnTo>
                <a:lnTo>
                  <a:pt x="0" y="22943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7872352" y="5446114"/>
            <a:ext cx="2318572" cy="2054834"/>
          </a:xfrm>
          <a:custGeom>
            <a:avLst/>
            <a:gdLst/>
            <a:ahLst/>
            <a:cxnLst/>
            <a:rect l="l" t="t" r="r" b="b"/>
            <a:pathLst>
              <a:path w="2318572" h="2054834">
                <a:moveTo>
                  <a:pt x="0" y="0"/>
                </a:moveTo>
                <a:lnTo>
                  <a:pt x="2318572" y="0"/>
                </a:lnTo>
                <a:lnTo>
                  <a:pt x="2318572" y="2054834"/>
                </a:lnTo>
                <a:lnTo>
                  <a:pt x="0" y="20548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565318" y="582920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Core Features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50247" y="4039758"/>
            <a:ext cx="3972507" cy="448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Polypharmacy Scanner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4085" y="4576606"/>
            <a:ext cx="6874608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Checks dangerous drug combinations instantly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50552" y="3930502"/>
            <a:ext cx="3099048" cy="448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Prescription OCR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79155" y="4467351"/>
            <a:ext cx="6470645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Extracts medicines from prescription images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60485" y="8182681"/>
            <a:ext cx="3522378" cy="432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GraphRAG</a:t>
            </a:r>
            <a:r>
              <a:rPr lang="en-US" sz="2599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Assistant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7193" y="8719529"/>
            <a:ext cx="5066153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Suggest safer medication options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8693" y="7748204"/>
            <a:ext cx="3321707" cy="448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Alternatives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091" y="8285053"/>
            <a:ext cx="4968972" cy="38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Suggest safer medication options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41330" y="8182681"/>
            <a:ext cx="3994070" cy="448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Visual Prescription Map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94654" y="8738579"/>
            <a:ext cx="5066153" cy="383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Interactive drug relationship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2369665" y="1603565"/>
            <a:ext cx="14401984" cy="7487938"/>
          </a:xfrm>
          <a:custGeom>
            <a:avLst/>
            <a:gdLst/>
            <a:ahLst/>
            <a:cxnLst/>
            <a:rect l="l" t="t" r="r" b="b"/>
            <a:pathLst>
              <a:path w="14401984" h="7487938">
                <a:moveTo>
                  <a:pt x="0" y="0"/>
                </a:moveTo>
                <a:lnTo>
                  <a:pt x="14401984" y="0"/>
                </a:lnTo>
                <a:lnTo>
                  <a:pt x="14401984" y="7487938"/>
                </a:lnTo>
                <a:lnTo>
                  <a:pt x="0" y="7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26" t="-18046" r="-1031" b="-126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4808571" y="536358"/>
            <a:ext cx="8287477" cy="83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7"/>
              </a:lnSpc>
            </a:pPr>
            <a:r>
              <a:rPr lang="en-US" sz="4919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Pipleline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hlinkClick r:id="rId7" tooltip="https://drawsql.app/teams/database-280/diagrams/datadosefv"/>
          </p:cNvPr>
          <p:cNvSpPr/>
          <p:nvPr/>
        </p:nvSpPr>
        <p:spPr>
          <a:xfrm>
            <a:off x="5567956" y="-863146"/>
            <a:ext cx="5765259" cy="2764758"/>
          </a:xfrm>
          <a:custGeom>
            <a:avLst/>
            <a:gdLst/>
            <a:ahLst/>
            <a:cxnLst/>
            <a:rect l="l" t="t" r="r" b="b"/>
            <a:pathLst>
              <a:path w="5765259" h="2764758">
                <a:moveTo>
                  <a:pt x="0" y="0"/>
                </a:moveTo>
                <a:lnTo>
                  <a:pt x="5765258" y="0"/>
                </a:lnTo>
                <a:lnTo>
                  <a:pt x="5765258" y="2764757"/>
                </a:lnTo>
                <a:lnTo>
                  <a:pt x="0" y="27647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0648" b="-778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627405" y="2057137"/>
            <a:ext cx="12391388" cy="7164776"/>
          </a:xfrm>
          <a:custGeom>
            <a:avLst/>
            <a:gdLst/>
            <a:ahLst/>
            <a:cxnLst/>
            <a:rect l="l" t="t" r="r" b="b"/>
            <a:pathLst>
              <a:path w="12391388" h="7164776">
                <a:moveTo>
                  <a:pt x="0" y="0"/>
                </a:moveTo>
                <a:lnTo>
                  <a:pt x="12391387" y="0"/>
                </a:lnTo>
                <a:lnTo>
                  <a:pt x="12391387" y="7164775"/>
                </a:lnTo>
                <a:lnTo>
                  <a:pt x="0" y="7164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45400" y="1924633"/>
            <a:ext cx="16084879" cy="7236561"/>
          </a:xfrm>
          <a:custGeom>
            <a:avLst/>
            <a:gdLst/>
            <a:ahLst/>
            <a:cxnLst/>
            <a:rect l="l" t="t" r="r" b="b"/>
            <a:pathLst>
              <a:path w="16084879" h="7236561">
                <a:moveTo>
                  <a:pt x="0" y="0"/>
                </a:moveTo>
                <a:lnTo>
                  <a:pt x="16084879" y="0"/>
                </a:lnTo>
                <a:lnTo>
                  <a:pt x="16084879" y="7236562"/>
                </a:lnTo>
                <a:lnTo>
                  <a:pt x="0" y="7236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0528" b="-276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641518" y="582920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&amp; Graph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149432" y="2605357"/>
            <a:ext cx="3202249" cy="47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sz="2826" b="1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</a:t>
            </a:r>
          </a:p>
        </p:txBody>
      </p:sp>
      <p:sp>
        <p:nvSpPr>
          <p:cNvPr id="18" name="Freeform 18"/>
          <p:cNvSpPr/>
          <p:nvPr/>
        </p:nvSpPr>
        <p:spPr>
          <a:xfrm>
            <a:off x="1703643" y="2647913"/>
            <a:ext cx="517597" cy="383669"/>
          </a:xfrm>
          <a:custGeom>
            <a:avLst/>
            <a:gdLst/>
            <a:ahLst/>
            <a:cxnLst/>
            <a:rect l="l" t="t" r="r" b="b"/>
            <a:pathLst>
              <a:path w="517597" h="383669">
                <a:moveTo>
                  <a:pt x="0" y="0"/>
                </a:moveTo>
                <a:lnTo>
                  <a:pt x="517596" y="0"/>
                </a:lnTo>
                <a:lnTo>
                  <a:pt x="517596" y="383669"/>
                </a:lnTo>
                <a:lnTo>
                  <a:pt x="0" y="3836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703643" y="5742345"/>
            <a:ext cx="575219" cy="582500"/>
          </a:xfrm>
          <a:custGeom>
            <a:avLst/>
            <a:gdLst/>
            <a:ahLst/>
            <a:cxnLst/>
            <a:rect l="l" t="t" r="r" b="b"/>
            <a:pathLst>
              <a:path w="575219" h="582500">
                <a:moveTo>
                  <a:pt x="0" y="0"/>
                </a:moveTo>
                <a:lnTo>
                  <a:pt x="575218" y="0"/>
                </a:lnTo>
                <a:lnTo>
                  <a:pt x="575218" y="582500"/>
                </a:lnTo>
                <a:lnTo>
                  <a:pt x="0" y="58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4341067" y="2674658"/>
            <a:ext cx="383272" cy="467404"/>
          </a:xfrm>
          <a:custGeom>
            <a:avLst/>
            <a:gdLst/>
            <a:ahLst/>
            <a:cxnLst/>
            <a:rect l="l" t="t" r="r" b="b"/>
            <a:pathLst>
              <a:path w="383272" h="467404">
                <a:moveTo>
                  <a:pt x="0" y="0"/>
                </a:moveTo>
                <a:lnTo>
                  <a:pt x="383272" y="0"/>
                </a:lnTo>
                <a:lnTo>
                  <a:pt x="383272" y="467404"/>
                </a:lnTo>
                <a:lnTo>
                  <a:pt x="0" y="4674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7127522" y="2608578"/>
            <a:ext cx="6413009" cy="2329986"/>
            <a:chOff x="0" y="0"/>
            <a:chExt cx="8550679" cy="3106648"/>
          </a:xfrm>
        </p:grpSpPr>
        <p:sp>
          <p:nvSpPr>
            <p:cNvPr id="22" name="Freeform 22"/>
            <p:cNvSpPr/>
            <p:nvPr/>
          </p:nvSpPr>
          <p:spPr>
            <a:xfrm>
              <a:off x="115640" y="0"/>
              <a:ext cx="783586" cy="683678"/>
            </a:xfrm>
            <a:custGeom>
              <a:avLst/>
              <a:gdLst/>
              <a:ahLst/>
              <a:cxnLst/>
              <a:rect l="l" t="t" r="r" b="b"/>
              <a:pathLst>
                <a:path w="783586" h="683678">
                  <a:moveTo>
                    <a:pt x="0" y="0"/>
                  </a:moveTo>
                  <a:lnTo>
                    <a:pt x="783586" y="0"/>
                  </a:lnTo>
                  <a:lnTo>
                    <a:pt x="783586" y="683678"/>
                  </a:lnTo>
                  <a:lnTo>
                    <a:pt x="0" y="683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0191"/>
              <a:ext cx="4535045" cy="663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2"/>
                </a:lnSpc>
                <a:spcBef>
                  <a:spcPct val="0"/>
                </a:spcBef>
              </a:pPr>
              <a:r>
                <a:rPr lang="en-US" sz="3001" b="1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Back-end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640" y="1164381"/>
              <a:ext cx="8435039" cy="1942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1469" lvl="1" indent="-245735" algn="l">
                <a:lnSpc>
                  <a:spcPts val="4029"/>
                </a:lnSpc>
                <a:buFont typeface="Arial"/>
                <a:buChar char="•"/>
              </a:pPr>
              <a:r>
                <a:rPr lang="en-US" sz="2276" b="1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FastAPI</a:t>
              </a:r>
            </a:p>
            <a:p>
              <a:pPr marL="491469" lvl="1" indent="-245735" algn="l">
                <a:lnSpc>
                  <a:spcPts val="4029"/>
                </a:lnSpc>
                <a:buFont typeface="Arial"/>
                <a:buChar char="•"/>
              </a:pPr>
              <a:r>
                <a:rPr lang="en-US" sz="2276" b="1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Python</a:t>
              </a:r>
            </a:p>
            <a:p>
              <a:pPr algn="l">
                <a:lnSpc>
                  <a:spcPts val="4029"/>
                </a:lnSpc>
              </a:pPr>
              <a:endParaRPr lang="en-US" sz="2276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7127522" y="5927321"/>
            <a:ext cx="683149" cy="591778"/>
          </a:xfrm>
          <a:custGeom>
            <a:avLst/>
            <a:gdLst/>
            <a:ahLst/>
            <a:cxnLst/>
            <a:rect l="l" t="t" r="r" b="b"/>
            <a:pathLst>
              <a:path w="683149" h="591778">
                <a:moveTo>
                  <a:pt x="0" y="0"/>
                </a:moveTo>
                <a:lnTo>
                  <a:pt x="683149" y="0"/>
                </a:lnTo>
                <a:lnTo>
                  <a:pt x="683149" y="591778"/>
                </a:lnTo>
                <a:lnTo>
                  <a:pt x="0" y="5917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4221268" y="5794344"/>
            <a:ext cx="581918" cy="564460"/>
          </a:xfrm>
          <a:custGeom>
            <a:avLst/>
            <a:gdLst/>
            <a:ahLst/>
            <a:cxnLst/>
            <a:rect l="l" t="t" r="r" b="b"/>
            <a:pathLst>
              <a:path w="581918" h="564460">
                <a:moveTo>
                  <a:pt x="0" y="0"/>
                </a:moveTo>
                <a:lnTo>
                  <a:pt x="581918" y="0"/>
                </a:lnTo>
                <a:lnTo>
                  <a:pt x="581918" y="564460"/>
                </a:lnTo>
                <a:lnTo>
                  <a:pt x="0" y="5644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278861" y="2578052"/>
            <a:ext cx="2054596" cy="475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sz="2826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Front-end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532703" y="3393688"/>
            <a:ext cx="5956081" cy="139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Neo4j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PostgreSQL</a:t>
            </a:r>
          </a:p>
          <a:p>
            <a:pPr algn="l">
              <a:lnSpc>
                <a:spcPts val="3793"/>
              </a:lnSpc>
            </a:pPr>
            <a:endParaRPr lang="en-US" sz="2143" b="1">
              <a:solidFill>
                <a:srgbClr val="3E373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373627" y="582920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72402" y="3362378"/>
            <a:ext cx="2054597" cy="189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Next.js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TypeScript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Tailwind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78861" y="5814878"/>
            <a:ext cx="3283739" cy="475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sz="2826" b="1" dirty="0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Engineering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91252" y="6599205"/>
            <a:ext cx="2035747" cy="189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Kafka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Databricks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PySpark</a:t>
            </a:r>
            <a:endParaRPr lang="en-US" sz="2143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Snowflake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127522" y="5927321"/>
            <a:ext cx="6503115" cy="1270505"/>
            <a:chOff x="0" y="0"/>
            <a:chExt cx="8670820" cy="1694007"/>
          </a:xfrm>
        </p:grpSpPr>
        <p:sp>
          <p:nvSpPr>
            <p:cNvPr id="34" name="TextBox 34"/>
            <p:cNvSpPr txBox="1"/>
            <p:nvPr/>
          </p:nvSpPr>
          <p:spPr>
            <a:xfrm>
              <a:off x="0" y="-57150"/>
              <a:ext cx="4598765" cy="672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61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21A17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Analytics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7265" y="1104053"/>
              <a:ext cx="8553555" cy="589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8375" lvl="1" indent="-249187" algn="l">
                <a:lnSpc>
                  <a:spcPts val="4085"/>
                </a:lnSpc>
                <a:buFont typeface="Arial"/>
                <a:buChar char="•"/>
              </a:pPr>
              <a:r>
                <a:rPr lang="en-US" sz="2308" b="1">
                  <a:solidFill>
                    <a:srgbClr val="3E37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Power BI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4833806" y="5836521"/>
            <a:ext cx="3202249" cy="475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6"/>
              </a:lnSpc>
              <a:spcBef>
                <a:spcPct val="0"/>
              </a:spcBef>
            </a:pPr>
            <a:r>
              <a:rPr lang="en-US" sz="2826" b="1">
                <a:solidFill>
                  <a:srgbClr val="D8B1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Artful Intelligence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302146" y="6624852"/>
            <a:ext cx="5956081" cy="139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Groq</a:t>
            </a:r>
          </a:p>
          <a:p>
            <a:pPr marL="462710" lvl="1" indent="-231355" algn="l">
              <a:lnSpc>
                <a:spcPts val="3793"/>
              </a:lnSpc>
              <a:buFont typeface="Arial"/>
              <a:buChar char="•"/>
            </a:pPr>
            <a:r>
              <a:rPr lang="en-US" sz="2143" b="1">
                <a:solidFill>
                  <a:srgbClr val="3E37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LLaMA</a:t>
            </a:r>
          </a:p>
          <a:p>
            <a:pPr algn="l">
              <a:lnSpc>
                <a:spcPts val="3793"/>
              </a:lnSpc>
            </a:pPr>
            <a:endParaRPr lang="en-US" sz="2143" b="1">
              <a:solidFill>
                <a:srgbClr val="3E3737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322643" y="1321941"/>
            <a:ext cx="15796309" cy="7910759"/>
          </a:xfrm>
          <a:custGeom>
            <a:avLst/>
            <a:gdLst/>
            <a:ahLst/>
            <a:cxnLst/>
            <a:rect l="l" t="t" r="r" b="b"/>
            <a:pathLst>
              <a:path w="15796309" h="7910759">
                <a:moveTo>
                  <a:pt x="0" y="0"/>
                </a:moveTo>
                <a:lnTo>
                  <a:pt x="15796309" y="0"/>
                </a:lnTo>
                <a:lnTo>
                  <a:pt x="15796309" y="7910759"/>
                </a:lnTo>
                <a:lnTo>
                  <a:pt x="0" y="79107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768" b="-143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342320" y="582920"/>
            <a:ext cx="7157365" cy="72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7"/>
              </a:lnSpc>
            </a:pPr>
            <a:r>
              <a:rPr lang="en-US" sz="4248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Live Application +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54610" y="1782855"/>
            <a:ext cx="15410189" cy="7520118"/>
          </a:xfrm>
          <a:custGeom>
            <a:avLst/>
            <a:gdLst/>
            <a:ahLst/>
            <a:cxnLst/>
            <a:rect l="l" t="t" r="r" b="b"/>
            <a:pathLst>
              <a:path w="15410189" h="7520118">
                <a:moveTo>
                  <a:pt x="0" y="0"/>
                </a:moveTo>
                <a:lnTo>
                  <a:pt x="15410189" y="0"/>
                </a:lnTo>
                <a:lnTo>
                  <a:pt x="15410189" y="7520118"/>
                </a:lnTo>
                <a:lnTo>
                  <a:pt x="0" y="7520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7828" b="-187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5415044" y="573395"/>
            <a:ext cx="7631730" cy="77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sz="4530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Timeline + Deliverables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09121" y="527494"/>
            <a:ext cx="8785839" cy="89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1"/>
              </a:lnSpc>
            </a:pPr>
            <a:r>
              <a:rPr lang="en-US" sz="5215" b="1">
                <a:solidFill>
                  <a:srgbClr val="2659B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67046" y="1785694"/>
            <a:ext cx="5636555" cy="3075220"/>
            <a:chOff x="0" y="0"/>
            <a:chExt cx="7515407" cy="4100293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515407" cy="4100293"/>
              <a:chOff x="0" y="0"/>
              <a:chExt cx="1163577" cy="6348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63578" cy="634830"/>
              </a:xfrm>
              <a:custGeom>
                <a:avLst/>
                <a:gdLst/>
                <a:ahLst/>
                <a:cxnLst/>
                <a:rect l="l" t="t" r="r" b="b"/>
                <a:pathLst>
                  <a:path w="1163578" h="634830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86757"/>
                    </a:lnTo>
                    <a:cubicBezTo>
                      <a:pt x="1163578" y="613307"/>
                      <a:pt x="1142054" y="634830"/>
                      <a:pt x="1115504" y="634830"/>
                    </a:cubicBezTo>
                    <a:lnTo>
                      <a:pt x="48073" y="634830"/>
                    </a:lnTo>
                    <a:cubicBezTo>
                      <a:pt x="21523" y="634830"/>
                      <a:pt x="0" y="613307"/>
                      <a:pt x="0" y="586757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163577" cy="672930"/>
              </a:xfrm>
              <a:prstGeom prst="rect">
                <a:avLst/>
              </a:prstGeom>
            </p:spPr>
            <p:txBody>
              <a:bodyPr lIns="64812" tIns="64812" rIns="64812" bIns="64812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202870" y="104470"/>
              <a:ext cx="4637272" cy="698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1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Youssef Adel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903" y="840294"/>
              <a:ext cx="5787201" cy="734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Graph Database Designer • Full-Stack Developer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903" y="1701655"/>
              <a:ext cx="6582926" cy="1468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1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System architecture, Neo4j schema design, Backend APIs, Frontend development, Graph database integration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7893" y="5995185"/>
            <a:ext cx="5636555" cy="2786499"/>
            <a:chOff x="0" y="0"/>
            <a:chExt cx="7515407" cy="3715332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515407" cy="3715332"/>
              <a:chOff x="0" y="0"/>
              <a:chExt cx="1163577" cy="57522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63578" cy="575229"/>
              </a:xfrm>
              <a:custGeom>
                <a:avLst/>
                <a:gdLst/>
                <a:ahLst/>
                <a:cxnLst/>
                <a:rect l="l" t="t" r="r" b="b"/>
                <a:pathLst>
                  <a:path w="1163578" h="575229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27155"/>
                    </a:lnTo>
                    <a:cubicBezTo>
                      <a:pt x="1163578" y="553705"/>
                      <a:pt x="1142054" y="575229"/>
                      <a:pt x="1115504" y="575229"/>
                    </a:cubicBezTo>
                    <a:lnTo>
                      <a:pt x="48073" y="575229"/>
                    </a:lnTo>
                    <a:cubicBezTo>
                      <a:pt x="21523" y="575229"/>
                      <a:pt x="0" y="553705"/>
                      <a:pt x="0" y="527155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163577" cy="613329"/>
              </a:xfrm>
              <a:prstGeom prst="rect">
                <a:avLst/>
              </a:prstGeom>
            </p:spPr>
            <p:txBody>
              <a:bodyPr lIns="64812" tIns="64812" rIns="64812" bIns="64812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202870" y="104470"/>
              <a:ext cx="4637272" cy="69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Mohamed Salah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7903" y="836333"/>
              <a:ext cx="5787201" cy="353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Engineer • BI Developer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903" y="1316694"/>
              <a:ext cx="6582926" cy="1468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1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Apache Kafka streaming, Snowflake data warehouse, Power BI dashboards, Data analytics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3714" y="4163153"/>
            <a:ext cx="5636555" cy="3072249"/>
            <a:chOff x="0" y="0"/>
            <a:chExt cx="7515407" cy="4096332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7515407" cy="4096332"/>
              <a:chOff x="0" y="0"/>
              <a:chExt cx="1163577" cy="63421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63578" cy="634217"/>
              </a:xfrm>
              <a:custGeom>
                <a:avLst/>
                <a:gdLst/>
                <a:ahLst/>
                <a:cxnLst/>
                <a:rect l="l" t="t" r="r" b="b"/>
                <a:pathLst>
                  <a:path w="1163578" h="634217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86144"/>
                    </a:lnTo>
                    <a:cubicBezTo>
                      <a:pt x="1163578" y="612694"/>
                      <a:pt x="1142054" y="634217"/>
                      <a:pt x="1115504" y="634217"/>
                    </a:cubicBezTo>
                    <a:lnTo>
                      <a:pt x="48073" y="634217"/>
                    </a:lnTo>
                    <a:cubicBezTo>
                      <a:pt x="21523" y="634217"/>
                      <a:pt x="0" y="612694"/>
                      <a:pt x="0" y="586144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163577" cy="672317"/>
              </a:xfrm>
              <a:prstGeom prst="rect">
                <a:avLst/>
              </a:prstGeom>
            </p:spPr>
            <p:txBody>
              <a:bodyPr lIns="64812" tIns="64812" rIns="64812" bIns="64812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202870" y="104470"/>
              <a:ext cx="4637272" cy="69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Amr Ayman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7903" y="836333"/>
              <a:ext cx="5787201" cy="734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Full-Stack Developer • Presentation Designer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7903" y="1697694"/>
              <a:ext cx="6582926" cy="1468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1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Full-stack development, UI implementation, Presentation design, Demo video production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233455" y="1821578"/>
            <a:ext cx="5636555" cy="3345503"/>
            <a:chOff x="0" y="0"/>
            <a:chExt cx="7515407" cy="446067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7515407" cy="4460670"/>
              <a:chOff x="0" y="0"/>
              <a:chExt cx="1163577" cy="6906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63578" cy="690626"/>
              </a:xfrm>
              <a:custGeom>
                <a:avLst/>
                <a:gdLst/>
                <a:ahLst/>
                <a:cxnLst/>
                <a:rect l="l" t="t" r="r" b="b"/>
                <a:pathLst>
                  <a:path w="1163578" h="690626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642553"/>
                    </a:lnTo>
                    <a:cubicBezTo>
                      <a:pt x="1163578" y="669103"/>
                      <a:pt x="1142054" y="690626"/>
                      <a:pt x="1115504" y="690626"/>
                    </a:cubicBezTo>
                    <a:lnTo>
                      <a:pt x="48073" y="690626"/>
                    </a:lnTo>
                    <a:cubicBezTo>
                      <a:pt x="21523" y="690626"/>
                      <a:pt x="0" y="669103"/>
                      <a:pt x="0" y="642553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163577" cy="728726"/>
              </a:xfrm>
              <a:prstGeom prst="rect">
                <a:avLst/>
              </a:prstGeom>
            </p:spPr>
            <p:txBody>
              <a:bodyPr lIns="64812" tIns="64812" rIns="64812" bIns="64812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063170" y="104470"/>
              <a:ext cx="5726631" cy="69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AmatAlrahman Sayed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903" y="987476"/>
              <a:ext cx="5787201" cy="353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Simulation &amp; DevOps Engineer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903" y="1752720"/>
              <a:ext cx="6987504" cy="1563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6"/>
                </a:lnSpc>
              </a:pPr>
              <a:r>
                <a:rPr lang="en-US" sz="2016" b="1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Prescription simulation engine, Kafka Producer, Docker containerization, Environment setup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304555" y="6034449"/>
            <a:ext cx="5636555" cy="2786499"/>
            <a:chOff x="0" y="0"/>
            <a:chExt cx="7515407" cy="3715332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7515407" cy="3715332"/>
              <a:chOff x="0" y="0"/>
              <a:chExt cx="1163577" cy="575229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63578" cy="575229"/>
              </a:xfrm>
              <a:custGeom>
                <a:avLst/>
                <a:gdLst/>
                <a:ahLst/>
                <a:cxnLst/>
                <a:rect l="l" t="t" r="r" b="b"/>
                <a:pathLst>
                  <a:path w="1163578" h="575229">
                    <a:moveTo>
                      <a:pt x="48073" y="0"/>
                    </a:moveTo>
                    <a:lnTo>
                      <a:pt x="1115504" y="0"/>
                    </a:lnTo>
                    <a:cubicBezTo>
                      <a:pt x="1142054" y="0"/>
                      <a:pt x="1163578" y="21523"/>
                      <a:pt x="1163578" y="48073"/>
                    </a:cubicBezTo>
                    <a:lnTo>
                      <a:pt x="1163578" y="527155"/>
                    </a:lnTo>
                    <a:cubicBezTo>
                      <a:pt x="1163578" y="553705"/>
                      <a:pt x="1142054" y="575229"/>
                      <a:pt x="1115504" y="575229"/>
                    </a:cubicBezTo>
                    <a:lnTo>
                      <a:pt x="48073" y="575229"/>
                    </a:lnTo>
                    <a:cubicBezTo>
                      <a:pt x="21523" y="575229"/>
                      <a:pt x="0" y="553705"/>
                      <a:pt x="0" y="527155"/>
                    </a:cubicBezTo>
                    <a:lnTo>
                      <a:pt x="0" y="48073"/>
                    </a:lnTo>
                    <a:cubicBezTo>
                      <a:pt x="0" y="21523"/>
                      <a:pt x="21523" y="0"/>
                      <a:pt x="48073" y="0"/>
                    </a:cubicBezTo>
                    <a:close/>
                  </a:path>
                </a:pathLst>
              </a:custGeom>
              <a:solidFill>
                <a:srgbClr val="047954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1163577" cy="613329"/>
              </a:xfrm>
              <a:prstGeom prst="rect">
                <a:avLst/>
              </a:prstGeom>
            </p:spPr>
            <p:txBody>
              <a:bodyPr lIns="64812" tIns="64812" rIns="64812" bIns="64812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1202870" y="104470"/>
              <a:ext cx="4637272" cy="694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56"/>
                </a:lnSpc>
              </a:pPr>
              <a:r>
                <a:rPr lang="en-US" sz="31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Ali Gad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7903" y="836333"/>
              <a:ext cx="5787201" cy="353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7"/>
                </a:lnSpc>
              </a:pPr>
              <a:r>
                <a:rPr lang="en-US" sz="1641" b="1">
                  <a:solidFill>
                    <a:srgbClr val="D8B1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Pipeline Engineer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7903" y="1316694"/>
              <a:ext cx="6582926" cy="1468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8"/>
                </a:lnSpc>
              </a:pPr>
              <a:r>
                <a:rPr lang="en-US" sz="1899" b="1">
                  <a:solidFill>
                    <a:srgbClr val="DDF2F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Apache Airflow orchestration, Apache Spark processing, ETL pipeline automation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tooltip="https://datadoseinfo.lovable.app"/>
          </p:cNvPr>
          <p:cNvSpPr/>
          <p:nvPr/>
        </p:nvSpPr>
        <p:spPr>
          <a:xfrm>
            <a:off x="0" y="4096908"/>
            <a:ext cx="5922755" cy="6201837"/>
          </a:xfrm>
          <a:custGeom>
            <a:avLst/>
            <a:gdLst/>
            <a:ahLst/>
            <a:cxnLst/>
            <a:rect l="l" t="t" r="r" b="b"/>
            <a:pathLst>
              <a:path w="5922755" h="6201837">
                <a:moveTo>
                  <a:pt x="0" y="0"/>
                </a:moveTo>
                <a:lnTo>
                  <a:pt x="5922755" y="0"/>
                </a:lnTo>
                <a:lnTo>
                  <a:pt x="5922755" y="6201837"/>
                </a:lnTo>
                <a:lnTo>
                  <a:pt x="0" y="6201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36085"/>
            <a:ext cx="18288000" cy="424574"/>
            <a:chOff x="0" y="0"/>
            <a:chExt cx="24384000" cy="566099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350157"/>
              <a:chOff x="0" y="0"/>
              <a:chExt cx="4816593" cy="691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6916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6916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69167"/>
                    </a:lnTo>
                    <a:lnTo>
                      <a:pt x="0" y="69167"/>
                    </a:lnTo>
                    <a:close/>
                  </a:path>
                </a:pathLst>
              </a:custGeom>
              <a:solidFill>
                <a:srgbClr val="21A17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107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0" y="540699"/>
              <a:ext cx="24384000" cy="0"/>
            </a:xfrm>
            <a:prstGeom prst="line">
              <a:avLst/>
            </a:prstGeom>
            <a:ln w="50800" cap="flat">
              <a:solidFill>
                <a:srgbClr val="2659B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9156" y="512315"/>
            <a:ext cx="1186974" cy="1091250"/>
          </a:xfrm>
          <a:custGeom>
            <a:avLst/>
            <a:gdLst/>
            <a:ahLst/>
            <a:cxnLst/>
            <a:rect l="l" t="t" r="r" b="b"/>
            <a:pathLst>
              <a:path w="1186974" h="1091250">
                <a:moveTo>
                  <a:pt x="0" y="0"/>
                </a:moveTo>
                <a:lnTo>
                  <a:pt x="1186974" y="0"/>
                </a:lnTo>
                <a:lnTo>
                  <a:pt x="1186974" y="1091250"/>
                </a:lnTo>
                <a:lnTo>
                  <a:pt x="0" y="1091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988489" y="432897"/>
            <a:ext cx="1952621" cy="1098350"/>
          </a:xfrm>
          <a:custGeom>
            <a:avLst/>
            <a:gdLst/>
            <a:ahLst/>
            <a:cxnLst/>
            <a:rect l="l" t="t" r="r" b="b"/>
            <a:pathLst>
              <a:path w="1952621" h="1098350">
                <a:moveTo>
                  <a:pt x="0" y="0"/>
                </a:moveTo>
                <a:lnTo>
                  <a:pt x="1952621" y="0"/>
                </a:lnTo>
                <a:lnTo>
                  <a:pt x="1952621" y="1098349"/>
                </a:lnTo>
                <a:lnTo>
                  <a:pt x="0" y="10983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312752" y="9067435"/>
            <a:ext cx="2401270" cy="1257665"/>
          </a:xfrm>
          <a:custGeom>
            <a:avLst/>
            <a:gdLst/>
            <a:ahLst/>
            <a:cxnLst/>
            <a:rect l="l" t="t" r="r" b="b"/>
            <a:pathLst>
              <a:path w="2401270" h="1257665">
                <a:moveTo>
                  <a:pt x="0" y="0"/>
                </a:moveTo>
                <a:lnTo>
                  <a:pt x="2401270" y="0"/>
                </a:lnTo>
                <a:lnTo>
                  <a:pt x="2401270" y="1257665"/>
                </a:lnTo>
                <a:lnTo>
                  <a:pt x="0" y="1257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4346" y="9489964"/>
            <a:ext cx="694605" cy="624793"/>
            <a:chOff x="0" y="0"/>
            <a:chExt cx="182941" cy="1645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941" cy="164555"/>
            </a:xfrm>
            <a:custGeom>
              <a:avLst/>
              <a:gdLst/>
              <a:ahLst/>
              <a:cxnLst/>
              <a:rect l="l" t="t" r="r" b="b"/>
              <a:pathLst>
                <a:path w="182941" h="164555">
                  <a:moveTo>
                    <a:pt x="0" y="0"/>
                  </a:moveTo>
                  <a:lnTo>
                    <a:pt x="182941" y="0"/>
                  </a:lnTo>
                  <a:lnTo>
                    <a:pt x="182941" y="164555"/>
                  </a:lnTo>
                  <a:lnTo>
                    <a:pt x="0" y="164555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941" cy="202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2643" y="9482263"/>
            <a:ext cx="4082876" cy="564904"/>
            <a:chOff x="0" y="0"/>
            <a:chExt cx="1075325" cy="1487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325" cy="148781"/>
            </a:xfrm>
            <a:custGeom>
              <a:avLst/>
              <a:gdLst/>
              <a:ahLst/>
              <a:cxnLst/>
              <a:rect l="l" t="t" r="r" b="b"/>
              <a:pathLst>
                <a:path w="1075325" h="148781">
                  <a:moveTo>
                    <a:pt x="0" y="0"/>
                  </a:moveTo>
                  <a:lnTo>
                    <a:pt x="1075325" y="0"/>
                  </a:lnTo>
                  <a:lnTo>
                    <a:pt x="1075325" y="148781"/>
                  </a:lnTo>
                  <a:lnTo>
                    <a:pt x="0" y="148781"/>
                  </a:ln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75325" cy="1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07/15/26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72207" y="6246376"/>
            <a:ext cx="14375915" cy="146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46"/>
              </a:lnSpc>
            </a:pPr>
            <a:r>
              <a:rPr lang="en-US" sz="8533" b="1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9156" y="5050448"/>
            <a:ext cx="18955782" cy="88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7"/>
              </a:lnSpc>
              <a:spcBef>
                <a:spcPct val="0"/>
              </a:spcBef>
            </a:pPr>
            <a:r>
              <a:rPr lang="en-US" sz="5098" b="1" strike="noStrik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DataDose Links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878923" y="3226692"/>
            <a:ext cx="4109566" cy="3279061"/>
          </a:xfrm>
          <a:custGeom>
            <a:avLst/>
            <a:gdLst/>
            <a:ahLst/>
            <a:cxnLst/>
            <a:rect l="l" t="t" r="r" b="b"/>
            <a:pathLst>
              <a:path w="4109566" h="3279061">
                <a:moveTo>
                  <a:pt x="0" y="0"/>
                </a:moveTo>
                <a:lnTo>
                  <a:pt x="4109566" y="0"/>
                </a:lnTo>
                <a:lnTo>
                  <a:pt x="4109566" y="3279061"/>
                </a:lnTo>
                <a:lnTo>
                  <a:pt x="0" y="32790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0214" t="-77860" r="-169896" b="-979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693036" y="5231968"/>
            <a:ext cx="783287" cy="717686"/>
          </a:xfrm>
          <a:custGeom>
            <a:avLst/>
            <a:gdLst/>
            <a:ahLst/>
            <a:cxnLst/>
            <a:rect l="l" t="t" r="r" b="b"/>
            <a:pathLst>
              <a:path w="783287" h="717686">
                <a:moveTo>
                  <a:pt x="0" y="0"/>
                </a:moveTo>
                <a:lnTo>
                  <a:pt x="783287" y="0"/>
                </a:lnTo>
                <a:lnTo>
                  <a:pt x="783287" y="717687"/>
                </a:lnTo>
                <a:lnTo>
                  <a:pt x="0" y="7176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87313" y="2426710"/>
            <a:ext cx="18955782" cy="136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7"/>
              </a:lnSpc>
              <a:spcBef>
                <a:spcPct val="0"/>
              </a:spcBef>
            </a:pPr>
            <a:r>
              <a:rPr lang="en-US" sz="5098" b="1" u="none" strike="noStrik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DataDose</a:t>
            </a:r>
          </a:p>
          <a:p>
            <a:pPr marL="0" lvl="0" indent="0" algn="l">
              <a:lnSpc>
                <a:spcPts val="3659"/>
              </a:lnSpc>
              <a:spcBef>
                <a:spcPct val="0"/>
              </a:spcBef>
            </a:pPr>
            <a:r>
              <a:rPr lang="en-US" sz="2613" b="1" u="none" strike="noStrike">
                <a:solidFill>
                  <a:srgbClr val="21A1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Making medication safety smarter, faster, and more intelligent.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9156" y="6177571"/>
            <a:ext cx="9100644" cy="74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1" dirty="0">
                <a:solidFill>
                  <a:srgbClr val="21A176"/>
                </a:solidFill>
                <a:latin typeface="Arimo Bold"/>
                <a:ea typeface="Arimo Bold"/>
                <a:cs typeface="Arimo Bold"/>
                <a:sym typeface="Arimo Bold"/>
                <a:hlinkClick r:id="rId2" tooltip="https://datadoseinfo.lovable.app"/>
              </a:rPr>
              <a:t>https://datadoseinfo.lovable.app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366</Words>
  <Application>Microsoft Office PowerPoint</Application>
  <PresentationFormat>Custom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Cairo Bold</vt:lpstr>
      <vt:lpstr>Canva Sans</vt:lpstr>
      <vt:lpstr>Arimo Bold</vt:lpstr>
      <vt:lpstr>Canva Sans Bold</vt:lpstr>
      <vt:lpstr>Calibri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</dc:title>
  <cp:lastModifiedBy>Mohammed Salah</cp:lastModifiedBy>
  <cp:revision>3</cp:revision>
  <dcterms:created xsi:type="dcterms:W3CDTF">2006-08-16T00:00:00Z</dcterms:created>
  <dcterms:modified xsi:type="dcterms:W3CDTF">2026-07-08T21:39:29Z</dcterms:modified>
  <dc:identifier>DAHNbW-MkOU</dc:identifier>
</cp:coreProperties>
</file>