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Inter Ligh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DAEA01-D8F1-4B40-9C0A-8D97EA926564}">
  <a:tblStyle styleId="{9DDAEA01-D8F1-4B40-9C0A-8D97EA9265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35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0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63.png"/><Relationship Id="rId13" Type="http://schemas.openxmlformats.org/officeDocument/2006/relationships/image" Target="../media/image16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7.png"/><Relationship Id="rId11" Type="http://schemas.openxmlformats.org/officeDocument/2006/relationships/image" Target="../media/image19.png"/><Relationship Id="rId10" Type="http://schemas.openxmlformats.org/officeDocument/2006/relationships/image" Target="../media/image25.png"/><Relationship Id="rId13" Type="http://schemas.openxmlformats.org/officeDocument/2006/relationships/image" Target="../media/image29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Relationship Id="rId15" Type="http://schemas.openxmlformats.org/officeDocument/2006/relationships/image" Target="../media/image26.png"/><Relationship Id="rId14" Type="http://schemas.openxmlformats.org/officeDocument/2006/relationships/image" Target="../media/image22.png"/><Relationship Id="rId17" Type="http://schemas.openxmlformats.org/officeDocument/2006/relationships/image" Target="../media/image27.png"/><Relationship Id="rId16" Type="http://schemas.openxmlformats.org/officeDocument/2006/relationships/image" Target="../media/image23.png"/><Relationship Id="rId5" Type="http://schemas.openxmlformats.org/officeDocument/2006/relationships/image" Target="../media/image18.png"/><Relationship Id="rId19" Type="http://schemas.openxmlformats.org/officeDocument/2006/relationships/image" Target="../media/image30.png"/><Relationship Id="rId6" Type="http://schemas.openxmlformats.org/officeDocument/2006/relationships/image" Target="../media/image4.png"/><Relationship Id="rId18" Type="http://schemas.openxmlformats.org/officeDocument/2006/relationships/image" Target="../media/image31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4.png"/><Relationship Id="rId13" Type="http://schemas.openxmlformats.org/officeDocument/2006/relationships/image" Target="../media/image36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9" Type="http://schemas.openxmlformats.org/officeDocument/2006/relationships/image" Target="../media/image46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9" Type="http://schemas.openxmlformats.org/officeDocument/2006/relationships/image" Target="../media/image1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9" Type="http://schemas.openxmlformats.org/officeDocument/2006/relationships/image" Target="../media/image61.png"/><Relationship Id="rId5" Type="http://schemas.openxmlformats.org/officeDocument/2006/relationships/image" Target="../media/image47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8.png"/><Relationship Id="rId13" Type="http://schemas.openxmlformats.org/officeDocument/2006/relationships/image" Target="../media/image49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1.png"/><Relationship Id="rId7" Type="http://schemas.openxmlformats.org/officeDocument/2006/relationships/image" Target="../media/image59.png"/><Relationship Id="rId8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57.png"/><Relationship Id="rId9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55.png"/><Relationship Id="rId7" Type="http://schemas.openxmlformats.org/officeDocument/2006/relationships/image" Target="../media/image60.png"/><Relationship Id="rId8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2.png"/><Relationship Id="rId5" Type="http://schemas.openxmlformats.org/officeDocument/2006/relationships/image" Target="../media/image56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54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58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5" Type="http://schemas.openxmlformats.org/officeDocument/2006/relationships/image" Target="../media/image62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810250" y="571500"/>
            <a:ext cx="571500" cy="381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95300" y="895350"/>
            <a:ext cx="112014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Snowflake Schema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Databricks Integration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5300" y="2594371"/>
            <a:ext cx="11201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DATADOSE ANALYTICS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6250" y="6381750"/>
            <a:ext cx="84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363259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0" y="363259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363259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5143500" cy="3055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14475"/>
            <a:ext cx="5143500" cy="3055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6250" y="6381750"/>
            <a:ext cx="9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09650" y="176212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01. Module Overview &amp; Goals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09650" y="208210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02. Key Features &amp; HIPAA Compliance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9650" y="240208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03. Technology Stack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9650" y="2722066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04. 4-Layer Architecture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09650" y="3042046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05. Data Warehouse Design (SCD Type 2)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09650" y="3362027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06. Snowflake DB Schema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09650" y="3682007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07. Azure Databricks Integration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09650" y="4001988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08. Security &amp; Key Vault Setup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34150" y="176212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09. Installation Workflow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34150" y="208210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10. Data Flow Pipeline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34150" y="240208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11. Configuration (sf_options)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534150" y="2722066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12. Implementation Highlights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34150" y="3042046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13. Performance Clustering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34150" y="3362027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14. Best Practices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534150" y="3682007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15. Project Impact &amp; Scalability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34150" y="4001988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16. Summary &amp;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57425"/>
            <a:ext cx="5143500" cy="1693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14475"/>
            <a:ext cx="5143500" cy="86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520255"/>
            <a:ext cx="5143500" cy="86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526035"/>
            <a:ext cx="5143500" cy="86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76250" y="6381750"/>
            <a:ext cx="107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62000" y="151447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analytical core of the DataDose Platform, providing a high-performance, 4-layer Cloud Data Warehouse.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333500" y="2505075"/>
            <a:ext cx="454056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Primary Purpose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09650" y="2895600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transform raw JSON pharmaceutical events into structured, historical insights while maintaining strict clinical security standards.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38900" y="1666875"/>
            <a:ext cx="50806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438900" y="1905000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Centralized Pharma Analytics DB.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438900" y="2672655"/>
            <a:ext cx="50806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438900" y="2910780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HIPAA-compliant patient de-identification.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438900" y="3678435"/>
            <a:ext cx="50806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438900" y="3916560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Seamless Databricks to Snowflake bridge.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524125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3429000" cy="1897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14475"/>
            <a:ext cx="3429000" cy="1897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514475"/>
            <a:ext cx="3429000" cy="1897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02235"/>
            <a:ext cx="3429000" cy="1897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3602235"/>
            <a:ext cx="3429000" cy="1897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3602235"/>
            <a:ext cx="3429000" cy="1897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476250" y="6381750"/>
            <a:ext cx="103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17621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009650" y="2209800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4-Layer DW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09650" y="2600325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Structured flow: Staging → Dimensions → Facts → Analytics.</a:t>
            </a:r>
            <a:endParaRPr/>
          </a:p>
        </p:txBody>
      </p:sp>
      <p:pic>
        <p:nvPicPr>
          <p:cNvPr descr="image.png" id="166" name="Google Shape;16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17621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629150" y="2209800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SCD Type 2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629150" y="2600325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Historical drug record tracking using Effective/Expiry dates.</a:t>
            </a:r>
            <a:endParaRPr/>
          </a:p>
        </p:txBody>
      </p:sp>
      <p:pic>
        <p:nvPicPr>
          <p:cNvPr descr="image.png" id="169" name="Google Shape;16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48650" y="17621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8248650" y="2209800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HIPAA De-ID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248650" y="2600325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DIM_PATIENT stores only hashed tokens. Zero PII persisted.</a:t>
            </a:r>
            <a:endParaRPr/>
          </a:p>
        </p:txBody>
      </p:sp>
      <p:pic>
        <p:nvPicPr>
          <p:cNvPr descr="image.png" id="172" name="Google Shape;17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384988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1009650" y="4297560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VARIANT Support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009650" y="4688085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raw JSON lineage stored in VARIANT columns.</a:t>
            </a:r>
            <a:endParaRPr/>
          </a:p>
        </p:txBody>
      </p:sp>
      <p:pic>
        <p:nvPicPr>
          <p:cNvPr descr="image.png" id="175" name="Google Shape;17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9150" y="384988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4629150" y="4297560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Graph Export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4629150" y="4688085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Pre-built views for Neo4j AuraDB node/rel imports.</a:t>
            </a:r>
            <a:endParaRPr/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48650" y="384988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8248650" y="4297560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Performance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8248650" y="4688085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Micro-partition clustering and search optimization.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51435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14475"/>
            <a:ext cx="51435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Technology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Stack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76250" y="6381750"/>
            <a:ext cx="110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10096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 Warehouse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009650" y="3295650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Compute &amp; ETL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5341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Infrastructure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152650"/>
            <a:ext cx="1333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86025" y="2152650"/>
            <a:ext cx="1333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3686175"/>
            <a:ext cx="1333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86025" y="3686175"/>
            <a:ext cx="1333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65341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Azure Key Vault (Secrets)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534150" y="247263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Snowflake Spark Connector (v2.15.0)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534150" y="279261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JDBC Driver (v3.14.4)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6534150" y="3112591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Snowflake RBAC (PYSPARK_ROLE)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6534150" y="3432571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Snowflake Python Connector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76387" y="23955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24187" y="239553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62100" y="39290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052762" y="39290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34150" y="2190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34150" y="251073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34150" y="283071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34150" y="315069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34150" y="3470671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324225"/>
            <a:ext cx="5143500" cy="1135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324225"/>
            <a:ext cx="5143500" cy="1135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476250" y="6381750"/>
            <a:ext cx="12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224" name="Google Shape;2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04950" y="19145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16150" y="21336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89251" y="19145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00452" y="21336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87840" y="189071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7087790" y="2452687"/>
            <a:ext cx="10001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STAGING | DIM | FACT</a:t>
            </a:r>
            <a:endParaRPr/>
          </a:p>
        </p:txBody>
      </p:sp>
      <p:pic>
        <p:nvPicPr>
          <p:cNvPr descr="image.png" id="232" name="Google Shape;23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84753" y="21336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472142" y="19145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1009650" y="357187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Databricks cluster reaches Snowflake on Port 443.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1009650" y="389185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Secrets bridged via linked Databricks Secret Scope.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6534150" y="357187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Warehouse: PHARMA_WH (X-SMALL → LARGE).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6534150" y="3891855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Role-based access via PYSPARK_ROLE.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5143500" cy="2518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14475"/>
            <a:ext cx="5143500" cy="2518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Warehouse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Design Layers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476250" y="6381750"/>
            <a:ext cx="196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248" name="Google Shape;24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10096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01. Staging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1009650" y="2152650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Raw JSON persisted in VARIANT format. Maintains 100% data lineage and enables ELT reprocessing.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009650" y="2830710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02. Dimensions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1009650" y="3221235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Master data for Drugs, Ingredients, Patients, and Pharmacies. Implements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SCD Type 2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Drug history.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5341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03. Facts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6534150" y="2152650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FACT_PRESCRIPTION_TRANSACTION. Grain: Single prescription event. Linked via surrogate keys.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6534150" y="2830710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04. Analytics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6534150" y="3221235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Precomputed rollups and export views (e.g., V_DRUG_INTERACTION_GRAPH) for rapid dashboarding.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514350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14475"/>
            <a:ext cx="514350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Snowflake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Schema Visualization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476250" y="6381750"/>
            <a:ext cx="19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268" name="Google Shape;2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10096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PHARMA_ANALYTICS_DB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5341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Relationships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65341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Surrogate Keys (INT) for all Dimension/Fact links.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534150" y="247263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Many-to-Many bridge: DIM_DRUG_INGREDIENT.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534150" y="279261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Micro-partitioning by TX_DATE_SK and PHARMACY_SK.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1200150" y="2152650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STAGING: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STG_DRUG_METADATA, STG_TRANSACTION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200150" y="2472630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DIMENSIONS: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DIM_DRUG (SCD2), DIM_PATIENT (Hashed), DIM_DATE (2020-2030 spine)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1200150" y="3036391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FACTS: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FACT_PRESCRIPTION_TRANSACTION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1200150" y="3356371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PATIENT_RISK_PROFILE, DRUG_INTERACTION_SUMMARY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94521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14475"/>
            <a:ext cx="5143500" cy="2089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514475"/>
            <a:ext cx="5143500" cy="2089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Azure Databricks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476250" y="6381750"/>
            <a:ext cx="157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1009650" y="4042171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Snowflake Pushdown: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Filtering and projections happen at the Snowflake layer, minimizing data transfer to Databricks.</a:t>
            </a:r>
            <a:endParaRPr/>
          </a:p>
        </p:txBody>
      </p:sp>
      <p:pic>
        <p:nvPicPr>
          <p:cNvPr descr="image.png" id="291" name="Google Shape;29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10096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Secret Bridging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1009650" y="2152650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Using dbutils.secrets for zero-credential exposure in code.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5341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Connection Flow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5341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PySpark Setup via sf_options.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534150" y="2472630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Spark Connector translates Spark SQL to Snowflake pushdowns.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6534150" y="3036391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Direct JDBC used for DDL and status updates.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54560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14475"/>
            <a:ext cx="3429000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14475"/>
            <a:ext cx="3429000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514475"/>
            <a:ext cx="3429000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 &amp;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Compliance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476250" y="6381750"/>
            <a:ext cx="164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1009650" y="3402210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HIPAA Compliance: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Time Travel (90 days) and Fail-safe (7 days) provide a complete audit trail of every drug interaction record change.</a:t>
            </a:r>
            <a:endParaRPr/>
          </a:p>
        </p:txBody>
      </p:sp>
      <p:pic>
        <p:nvPicPr>
          <p:cNvPr descr="image.png" id="312" name="Google Shape;31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 txBox="1"/>
          <p:nvPr/>
        </p:nvSpPr>
        <p:spPr>
          <a:xfrm>
            <a:off x="1009650" y="1762125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Azure Key Vault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1009650" y="2152650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Centralized secret management. Rotation-ready credentials.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4629150" y="1762125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RBAC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4629150" y="2152650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PYSPARK_ROLE with FUTURE table grants. Minimal privilege principle.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8248650" y="1762125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Masking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8248650" y="2152650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Data Masking for non-clinical analytical roles.</a:t>
            </a:r>
            <a:endParaRPr/>
          </a:p>
        </p:txBody>
      </p:sp>
      <p:pic>
        <p:nvPicPr>
          <p:cNvPr descr="image.png" id="320" name="Google Shape;32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344031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47975"/>
            <a:ext cx="10668000" cy="1135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14475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0375" y="1514475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0" y="1514475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77125" y="1514475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15500" y="1514475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Installation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476250" y="6381750"/>
            <a:ext cx="17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1009650" y="3095625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Maven Coordinates: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net.snowflake:spark-snowflake_2.12:2.15.0-spark_3.4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1009650" y="3415605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JDBC Driver: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net.snowflake:snowflake-jdbc:3.14.4</a:t>
            </a:r>
            <a:endParaRPr/>
          </a:p>
        </p:txBody>
      </p:sp>
      <p:pic>
        <p:nvPicPr>
          <p:cNvPr descr="image.png" id="337" name="Google Shape;337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52712" y="18954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91087" y="18954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29462" y="18954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67837" y="189547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43125"/>
            <a:ext cx="10668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71925"/>
            <a:ext cx="10668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3057525"/>
            <a:ext cx="17145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057525"/>
            <a:ext cx="17145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Flow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Pipeline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476250" y="6381750"/>
            <a:ext cx="142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762000" y="1514475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RAW DATA (JSON/CSV)</a:t>
            </a:r>
            <a:endParaRPr/>
          </a:p>
        </p:txBody>
      </p:sp>
      <p:pic>
        <p:nvPicPr>
          <p:cNvPr descr="image.png" id="356" name="Google Shape;35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8850" y="18002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8850" y="28098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8850" y="36290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8850" y="46386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4"/>
          <p:cNvSpPr txBox="1"/>
          <p:nvPr/>
        </p:nvSpPr>
        <p:spPr>
          <a:xfrm>
            <a:off x="762000" y="4886325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NEO4J EXPORT VIEW</a:t>
            </a:r>
            <a:endParaRPr/>
          </a:p>
        </p:txBody>
      </p:sp>
      <p:pic>
        <p:nvPicPr>
          <p:cNvPr descr="image.png" id="361" name="Google Shape;36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5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Configuration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Parameters</a:t>
            </a:r>
            <a:endParaRPr/>
          </a:p>
        </p:txBody>
      </p:sp>
      <p:graphicFrame>
        <p:nvGraphicFramePr>
          <p:cNvPr id="370" name="Google Shape;370;p25"/>
          <p:cNvGraphicFramePr/>
          <p:nvPr/>
        </p:nvGraphicFramePr>
        <p:xfrm>
          <a:off x="762000" y="1514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{9DDAEA01-D8F1-4B40-9C0A-8D97EA926564}</a:tableStyleId>
              </a:tblPr>
              <a:tblGrid>
                <a:gridCol w="2218875"/>
                <a:gridCol w="2679800"/>
                <a:gridCol w="5769325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9B5E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9B5E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9B5E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sfURL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Snowflake Account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computing endpoint for the account.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sfUser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Vault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Service User (PYSPARK_SVC).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sfWarehouse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Snowflake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Virtual Warehouse (PHARMA_WH).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sfSchema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Notebook Override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 target STAGING, FACTS, or DIMENSIONS.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sfRole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Snowflake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PYSPARK_ROLE for RBAC compliance.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25"/>
          <p:cNvSpPr txBox="1"/>
          <p:nvPr/>
        </p:nvSpPr>
        <p:spPr>
          <a:xfrm>
            <a:off x="476250" y="6381750"/>
            <a:ext cx="9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762000" y="1981200"/>
            <a:ext cx="2218878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2980878" y="1981200"/>
            <a:ext cx="2679799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5660677" y="1981200"/>
            <a:ext cx="5769322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5" name="Google Shape;37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5"/>
          <p:cNvSpPr/>
          <p:nvPr/>
        </p:nvSpPr>
        <p:spPr>
          <a:xfrm>
            <a:off x="762000" y="2462212"/>
            <a:ext cx="22188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2980878" y="2462212"/>
            <a:ext cx="26797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5660677" y="2462212"/>
            <a:ext cx="5769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762000" y="2928937"/>
            <a:ext cx="22188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2980878" y="2928937"/>
            <a:ext cx="26797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5660677" y="2928937"/>
            <a:ext cx="5769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762000" y="3395662"/>
            <a:ext cx="22188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2980878" y="3395662"/>
            <a:ext cx="26797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660677" y="3395662"/>
            <a:ext cx="5769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762000" y="3862387"/>
            <a:ext cx="22188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2980878" y="3862387"/>
            <a:ext cx="26797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5660677" y="3862387"/>
            <a:ext cx="5769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762000" y="4329112"/>
            <a:ext cx="22188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2980878" y="4329112"/>
            <a:ext cx="26797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5660677" y="4329112"/>
            <a:ext cx="5769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50741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14475"/>
            <a:ext cx="5143500" cy="1845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14475"/>
            <a:ext cx="5143500" cy="1845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6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Implementation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Highlights</a:t>
            </a:r>
            <a:endParaRPr/>
          </a:p>
        </p:txBody>
      </p:sp>
      <p:sp>
        <p:nvSpPr>
          <p:cNvPr id="402" name="Google Shape;402;p26"/>
          <p:cNvSpPr txBox="1"/>
          <p:nvPr/>
        </p:nvSpPr>
        <p:spPr>
          <a:xfrm>
            <a:off x="476250" y="6381750"/>
            <a:ext cx="171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1009650" y="3798391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Read Pattern: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Custom PySpark helper with targeted error diagnostics for credential, network, and JAR failures.</a:t>
            </a:r>
            <a:endParaRPr/>
          </a:p>
        </p:txBody>
      </p:sp>
      <p:pic>
        <p:nvPicPr>
          <p:cNvPr descr="image.png" id="404" name="Google Shape;40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6"/>
          <p:cNvSpPr txBox="1"/>
          <p:nvPr/>
        </p:nvSpPr>
        <p:spPr>
          <a:xfrm>
            <a:off x="10096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SCD Type 2 Pattern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10096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Historical drug tracking.</a:t>
            </a:r>
            <a:endParaRPr/>
          </a:p>
        </p:txBody>
      </p:sp>
      <p:sp>
        <p:nvSpPr>
          <p:cNvPr id="408" name="Google Shape;408;p26"/>
          <p:cNvSpPr txBox="1"/>
          <p:nvPr/>
        </p:nvSpPr>
        <p:spPr>
          <a:xfrm>
            <a:off x="1009650" y="247263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RECORD_VERSION tracking.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1009650" y="279261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IS_CURRENT boolean for latest data.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65341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Clustering Design</a:t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65341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Auto-clustering on FACT_PRESCRIPTION_TRANSACTION.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6534150" y="247263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Clustering keys: TX_DATE_SK, PHARMACY_SK.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6534150" y="279261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Minimizes partition scanning for time-series reports.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5143500" cy="2165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14475"/>
            <a:ext cx="5143500" cy="2165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7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Practices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476250" y="6381750"/>
            <a:ext cx="12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7"/>
          <p:cNvSpPr txBox="1"/>
          <p:nvPr/>
        </p:nvSpPr>
        <p:spPr>
          <a:xfrm>
            <a:off x="10096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/>
          </a:p>
        </p:txBody>
      </p:sp>
      <p:sp>
        <p:nvSpPr>
          <p:cNvPr id="427" name="Google Shape;427;p27"/>
          <p:cNvSpPr txBox="1"/>
          <p:nvPr/>
        </p:nvSpPr>
        <p:spPr>
          <a:xfrm>
            <a:off x="10096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Service Accounts (SVC) only.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1009650" y="247263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Rotate keys in Key Vault frequently.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1009650" y="279261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Enforce MFA for human admin users.</a:t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1009650" y="3112591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Monitor Snowflake login history for SVC anomalies.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6534150" y="1762125"/>
            <a:ext cx="48806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Engineering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6534150" y="215265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Favor mode("append") to staging.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6534150" y="247263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Use VARIANT to avoid data loss from schema drift.</a:t>
            </a:r>
            <a:endParaRPr/>
          </a:p>
        </p:txBody>
      </p:sp>
      <p:sp>
        <p:nvSpPr>
          <p:cNvPr id="434" name="Google Shape;434;p27"/>
          <p:cNvSpPr txBox="1"/>
          <p:nvPr/>
        </p:nvSpPr>
        <p:spPr>
          <a:xfrm>
            <a:off x="6534150" y="2792610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Standardize on ISO Date surrogate keys.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6534150" y="3112591"/>
            <a:ext cx="4648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Override sfSchema dynamically for cross-schema tasks.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0" name="Google Shape;4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3429000" cy="1430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14475"/>
            <a:ext cx="3429000" cy="1430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514475"/>
            <a:ext cx="3429000" cy="1430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8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/>
          </a:p>
        </p:txBody>
      </p:sp>
      <p:sp>
        <p:nvSpPr>
          <p:cNvPr id="446" name="Google Shape;446;p28"/>
          <p:cNvSpPr txBox="1"/>
          <p:nvPr/>
        </p:nvSpPr>
        <p:spPr>
          <a:xfrm>
            <a:off x="762000" y="332601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"Choosing Snowflake + Databricks allows DataDose to scale from thousands to millions of prescriptions while maintaining sub-second analytical response times."</a:t>
            </a:r>
            <a:endParaRPr/>
          </a:p>
        </p:txBody>
      </p:sp>
      <p:sp>
        <p:nvSpPr>
          <p:cNvPr id="447" name="Google Shape;447;p28"/>
          <p:cNvSpPr txBox="1"/>
          <p:nvPr/>
        </p:nvSpPr>
        <p:spPr>
          <a:xfrm>
            <a:off x="476250" y="6381750"/>
            <a:ext cx="147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448" name="Google Shape;44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8"/>
          <p:cNvSpPr txBox="1"/>
          <p:nvPr/>
        </p:nvSpPr>
        <p:spPr>
          <a:xfrm>
            <a:off x="1009650" y="1762125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90%</a:t>
            </a:r>
            <a:endParaRPr/>
          </a:p>
        </p:txBody>
      </p:sp>
      <p:sp>
        <p:nvSpPr>
          <p:cNvPr id="451" name="Google Shape;451;p28"/>
          <p:cNvSpPr txBox="1"/>
          <p:nvPr/>
        </p:nvSpPr>
        <p:spPr>
          <a:xfrm>
            <a:off x="1009650" y="2133600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 query retrieval using search optimization on dimension lookups.</a:t>
            </a:r>
            <a:endParaRPr/>
          </a:p>
        </p:txBody>
      </p:sp>
      <p:sp>
        <p:nvSpPr>
          <p:cNvPr id="452" name="Google Shape;452;p28"/>
          <p:cNvSpPr txBox="1"/>
          <p:nvPr/>
        </p:nvSpPr>
        <p:spPr>
          <a:xfrm>
            <a:off x="4629150" y="1762125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3621"/>
                </a:solidFill>
                <a:latin typeface="Inter"/>
                <a:ea typeface="Inter"/>
                <a:cs typeface="Inter"/>
                <a:sym typeface="Inter"/>
              </a:rPr>
              <a:t>Zero</a:t>
            </a:r>
            <a:endParaRPr/>
          </a:p>
        </p:txBody>
      </p:sp>
      <p:sp>
        <p:nvSpPr>
          <p:cNvPr id="453" name="Google Shape;453;p28"/>
          <p:cNvSpPr txBox="1"/>
          <p:nvPr/>
        </p:nvSpPr>
        <p:spPr>
          <a:xfrm>
            <a:off x="4629150" y="2133600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PII data stored in Snowflake, ensuring total HIPAA compliance.</a:t>
            </a:r>
            <a:endParaRPr/>
          </a:p>
        </p:txBody>
      </p:sp>
      <p:sp>
        <p:nvSpPr>
          <p:cNvPr id="454" name="Google Shape;454;p28"/>
          <p:cNvSpPr txBox="1"/>
          <p:nvPr/>
        </p:nvSpPr>
        <p:spPr>
          <a:xfrm>
            <a:off x="8248650" y="1762125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8248650" y="2133600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lineage retained via VARIANT staging architecture.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0" name="Google Shape;4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14475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20255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26035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31816"/>
            <a:ext cx="10668000" cy="815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 txBox="1"/>
          <p:nvPr/>
        </p:nvSpPr>
        <p:spPr>
          <a:xfrm>
            <a:off x="762000" y="5715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Summary </a:t>
            </a:r>
            <a:r>
              <a:rPr b="1" i="0" lang="en-US" sz="36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&amp; Key Takeaways</a:t>
            </a:r>
            <a:endParaRPr/>
          </a:p>
        </p:txBody>
      </p:sp>
      <p:sp>
        <p:nvSpPr>
          <p:cNvPr id="467" name="Google Shape;467;p29"/>
          <p:cNvSpPr txBox="1"/>
          <p:nvPr/>
        </p:nvSpPr>
        <p:spPr>
          <a:xfrm>
            <a:off x="476250" y="6381750"/>
            <a:ext cx="12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sp>
        <p:nvSpPr>
          <p:cNvPr id="468" name="Google Shape;468;p29"/>
          <p:cNvSpPr txBox="1"/>
          <p:nvPr/>
        </p:nvSpPr>
        <p:spPr>
          <a:xfrm>
            <a:off x="1009650" y="1762125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Enterprise Scale: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Built on Snowflake Standard + Databricks 13.3 LTS.</a:t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1009650" y="2767905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by Design: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Key Vault secrets, RBAC, and Patient Tokenization.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1009650" y="3773685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Clinical Ready: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SCD Type 2 history tracking for full drug record auditability.</a:t>
            </a:r>
            <a:endParaRPr/>
          </a:p>
        </p:txBody>
      </p:sp>
      <p:sp>
        <p:nvSpPr>
          <p:cNvPr id="471" name="Google Shape;471;p29"/>
          <p:cNvSpPr txBox="1"/>
          <p:nvPr/>
        </p:nvSpPr>
        <p:spPr>
          <a:xfrm>
            <a:off x="1009650" y="4779466"/>
            <a:ext cx="10172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 Enabled: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Ready for BI, ML, and Neo4j graph processing.</a:t>
            </a:r>
            <a:endParaRPr/>
          </a:p>
        </p:txBody>
      </p:sp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229350"/>
            <a:ext cx="11239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0"/>
          <p:cNvSpPr txBox="1"/>
          <p:nvPr/>
        </p:nvSpPr>
        <p:spPr>
          <a:xfrm>
            <a:off x="495300" y="2157412"/>
            <a:ext cx="11201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481" name="Google Shape;481;p30"/>
          <p:cNvSpPr txBox="1"/>
          <p:nvPr/>
        </p:nvSpPr>
        <p:spPr>
          <a:xfrm>
            <a:off x="762000" y="3271837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 for your time.</a:t>
            </a:r>
            <a:endParaRPr/>
          </a:p>
        </p:txBody>
      </p:sp>
      <p:sp>
        <p:nvSpPr>
          <p:cNvPr id="482" name="Google Shape;482;p30"/>
          <p:cNvSpPr txBox="1"/>
          <p:nvPr/>
        </p:nvSpPr>
        <p:spPr>
          <a:xfrm>
            <a:off x="762000" y="4119562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3621"/>
                </a:solidFill>
                <a:latin typeface="Inter"/>
                <a:ea typeface="Inter"/>
                <a:cs typeface="Inter"/>
                <a:sym typeface="Inter"/>
              </a:rPr>
              <a:t>Snowflake Schema v2.0 | Databricks Integration v3.0</a:t>
            </a:r>
            <a:endParaRPr/>
          </a:p>
        </p:txBody>
      </p:sp>
      <p:sp>
        <p:nvSpPr>
          <p:cNvPr id="483" name="Google Shape;483;p30"/>
          <p:cNvSpPr txBox="1"/>
          <p:nvPr/>
        </p:nvSpPr>
        <p:spPr>
          <a:xfrm>
            <a:off x="476250" y="6381750"/>
            <a:ext cx="99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Inter"/>
                <a:ea typeface="Inter"/>
                <a:cs typeface="Inter"/>
                <a:sym typeface="Inter"/>
              </a:rPr>
              <a:t>DataDose</a:t>
            </a:r>
            <a:endParaRPr/>
          </a:p>
        </p:txBody>
      </p:sp>
      <p:pic>
        <p:nvPicPr>
          <p:cNvPr descr="image.png" id="484" name="Google Shape;48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82350" y="6385470"/>
            <a:ext cx="161925" cy="18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34775" y="6385470"/>
            <a:ext cx="180975" cy="182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