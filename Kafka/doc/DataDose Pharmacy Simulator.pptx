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564F65-1542-4AD4-8070-8C1DF2133103}">
  <a:tblStyle styleId="{4F564F65-1542-4AD4-8070-8C1DF21331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9.jpg"/><Relationship Id="rId6" Type="http://schemas.openxmlformats.org/officeDocument/2006/relationships/image" Target="../media/image28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486048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DataDose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029098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PHARMACY PRESCRIPTION SIMULATOR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202459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64060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Realistic pharmaceutical event streaming to Aiven Kafka over SASL_SSL. Powering real-time drug interaction analytics.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3055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3110805"/>
            <a:ext cx="116014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Simulating the Future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10140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Bridging the gap between static datasets and real-time event streams.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8600"/>
            <a:ext cx="3492549" cy="3990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98600"/>
            <a:ext cx="3492549" cy="3990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98600"/>
            <a:ext cx="3492549" cy="399037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62025" y="3098750"/>
            <a:ext cx="2847074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Verified Drug Pool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628280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Loads INNs from validated CSVs, filtering for ingredient flags and expanding complex combinations.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40324" y="3098750"/>
            <a:ext cx="2847074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Realistic Generation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40324" y="3948261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Randomizes patient data, pharmacy locations (120 IDs), and patient demographics (Age 18-85).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18624" y="3098750"/>
            <a:ext cx="2847074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Live Monitoring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18624" y="3628280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Real-time progress reporting with formatted tables and session statistics every 50 messages.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336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336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3367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Core Capabilities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879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5">
            <a:alphaModFix/>
          </a:blip>
          <a:srcRect b="13690" l="0" r="0" t="13683"/>
          <a:stretch/>
        </p:blipFill>
        <p:spPr>
          <a:xfrm>
            <a:off x="6391275" y="199831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047750" y="2602557"/>
            <a:ext cx="4762500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Producer Engine: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Loads output_FINAL.csv to initialize drug INN pools.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47750" y="3520529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Aiven Kafka: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Secure transit over SASL_SSL (TLS 1.2+).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47750" y="442897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Data Consumer: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Real-time integration with Databricks PySpark pipelines.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45419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63391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7183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" name="Google Shape;136;p17"/>
          <p:cNvGraphicFramePr/>
          <p:nvPr/>
        </p:nvGraphicFramePr>
        <p:xfrm>
          <a:off x="571500" y="2198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{4F564F65-1542-4AD4-8070-8C1DF2133103}</a:tableStyleId>
              </a:tblPr>
              <a:tblGrid>
                <a:gridCol w="2246400"/>
                <a:gridCol w="3041000"/>
                <a:gridCol w="5761575"/>
              </a:tblGrid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Implementation Detail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 3.10+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logic and simulation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Kafka Client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kafka-python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SASL/SSL enabled Producer/Consumer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 loading and INN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SCRAM-SHA-256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SASL authentication against Aiven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Messaging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JSON (UTF-8)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Serialized event payload 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7"/>
          <p:cNvSpPr/>
          <p:nvPr/>
        </p:nvSpPr>
        <p:spPr>
          <a:xfrm>
            <a:off x="571500" y="2846040"/>
            <a:ext cx="224641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817911" y="2846040"/>
            <a:ext cx="304100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858916" y="2846040"/>
            <a:ext cx="576158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71500" y="3441352"/>
            <a:ext cx="224641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817911" y="3441352"/>
            <a:ext cx="30410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858916" y="3441352"/>
            <a:ext cx="57615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1500" y="4022377"/>
            <a:ext cx="224641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2817911" y="4022377"/>
            <a:ext cx="30410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858916" y="4022377"/>
            <a:ext cx="57615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4603402"/>
            <a:ext cx="224641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817911" y="4603402"/>
            <a:ext cx="30410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58916" y="4603402"/>
            <a:ext cx="57615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5184427"/>
            <a:ext cx="224641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817911" y="5184427"/>
            <a:ext cx="30410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858916" y="5184427"/>
            <a:ext cx="57615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5765452"/>
            <a:ext cx="224641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817911" y="5765452"/>
            <a:ext cx="30410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858916" y="5765452"/>
            <a:ext cx="57615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1428750" y="2531119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Pharmacy Pool: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120 unique pharmacies with Egyptian city assignments.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428750" y="3439566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Patient Cohort: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50,000 randomized IDs ensuring data distribution.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428750" y="4348013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Age Diversity: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Realistic range from 18 to 85 years old.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143750" y="2531119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Dose Forms: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9 delivery methods (Tablets, Syrups, Inhalers, etc.).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143750" y="3439566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Polypharmacy: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Randomizes 0–5 current medications per event.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143750" y="4348013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Temporal Data: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UTC timestamps generated for event sequencing.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57398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82429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39087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257398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0" y="3482429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0" y="4390876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Data Generation Logic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62000" y="880616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Security &amp; Protocols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880616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201974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Enterprise-grade security is baked into every event transmission.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047750" y="3090118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SASL_SSL: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Secure authentication via SCRAM-SHA-256.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047750" y="3998565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Transport: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TLS 1.2 minimum enforced on SSL Context.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047750" y="4907012"/>
            <a:ext cx="4476750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Certificates: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Custom ca.pem validation for broker identity.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3298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4142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4987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1080"/>
            <a:ext cx="11049000" cy="478541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4616797"/>
            <a:ext cx="11049000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simulator supports sub-second rate adjustment via the --rate flag.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Throughput Performance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0496"/>
            <a:ext cx="5238750" cy="2706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08076"/>
            <a:ext cx="5238750" cy="2371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5007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962025" y="3111996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Dry-Run Mode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62025" y="3641526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Prints prescriptions to the console without Kafka connection. Perfect for schema validation and local development.</a:t>
            </a:r>
            <a:endParaRPr/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117651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6772275" y="3279576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Live Production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72275" y="3809107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Connects to Aiven cloud endpoints with full SASL/SSL handshaking for continuous data flow.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Operational Usage Modes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474538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realistic Egyptian demographic footprint spanning 25 major cities.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2497484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120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3640484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PHARMACY NODES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381750" y="2497484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50K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381750" y="3640484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PATIENT IDS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Simulation Scale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1080"/>
            <a:ext cx="11049000" cy="478541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571500" y="538355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Continuous improvements in data fidelity and connection resilience.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Projected Pipeline Scalability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295275" y="142115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275465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DataDose Pharmacy Simulator v4.2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571500" y="403473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For more information, please refer to the technical documentation.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